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We're Team Outliers, and we're here to solve one of the most expensive contradictions in the clean energy transition: we're generating more renewable power than ever, yet throwing millions of megawatt-hours away. GridWise AI is our answer — an intelligent grid advisor built for IBM Bob, combining machine learning, physics, and explainable AI to turn that waste into stability. Let's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2023 alone, the U.S. curtailed nearly 8 terawatt-hours of clean solar and wind power — not because we lacked the energy, but because grid operators lacked the intelligence to use it. Today's operators juggle load spikes, unpredictable weather-driven generation, and equipment that silently degrades — with no unified, real-time system to guide their decisions. The result: carbon-heavy peaker plants get switched on, expensive assets fail without warning, and clean energy is wasted. This isn't a generation problem. It's a decision-support problem. That's exactly what GridWise AI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GridWise AI isn't a single model — it's a closed-loop operator platform built on four pillars. First, we Predict load and demand 24 hours ahead using XGBoost. Second, we Detect anomalies in real-time solar and wind output by comparing it against a physics-grounded expected baseline. Third, we Diagnose the root cause — distinguishing a cloudy day from an actual inverter fault. And finally, we Balance and Advise: recommending BESS dispatch or demand response, then delivering it all through a natural conversation with IBM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pipeline. Raw telemetry and weather feeds enter our system and split into two parallel intelligence tracks: an XGBoost forecasting model predicting load 24 hours out, and a physics-based generation engine calculating exactly how much solar and wind power should be produced. Where physics predictions diverge from actual sensor output, our RCA Diagnostic Matrix uses confidence scoring to separate cloud cover from real mechanical faults. This feeds a Grid Balance Engine recommending BESS dispatch or demand response. Every insight is exposed through 9 tools on our IBM Bob MCP server, so operators get evidence-tagged answers on our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four innovations make GridWise AI reliable, not just clever. Our XGBoost forecaster is trained with strict chronological splitting — no data leakage — and hits an R-squared of 0.90. Our physics engine independently calculates expected solar and wind output. That expected value backs our RCA engine, which uses deterministic confidence scoring to avoid false alarms on a cloudy day while still catching real faults. And our balancing logic respects real battery constraints, always prioritizing clean energy absorption before reaching for a gas 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GridWise AI becomes genuinely usable under pressure. We built a custom TypeScript MCP server exposing 9 real backend tools directly to IBM Bob. An operator can literally just ask why Wind Farm 3 dropped at 2 PM, and get a grounded, tool-verified answer in seconds. Critically, every number Bob speaks is tagged by source — Measured, ML Model, Rule-based, or Anomaly-flagged — so there is never a hallucinated statistic in a mission-critical control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back up the story. In simulated stress scenarios, GridWise AI avoided up to 4.3 megawatt-hours of curtailment per day — an 82% reduction. We maintained 94.2% power-factor compliance during peak demand events. Most dramatically, we collapsed diagnostic decision time from 45 minutes down to under 3 seconds. And we back all of this with engineering rigor — 139 out of 139 automated tests passing, with a zero-fabrication guarantee across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Outliers brought together full-stack architecture, machine learning, physics modeling, and UX design to build something genuinely deployable — not just a demo. Looking ahead, we plan multi-day rolling economic dispatch, direct edge IoT sensor integration, and real-time interconnects across multiple substations. Ultimately, GridWise AI's mission is simple: stop grid operators from reacting to crises after they happen, and start letting them conduct the clean energy grid proactively, with AI as their co-pilot.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859536"/>
            <a:ext cx="12161520" cy="0"/>
          </a:xfrm>
          <a:prstGeom prst="line">
            <a:avLst/>
          </a:prstGeom>
          <a:noFill/>
          <a:ln w="6350">
            <a:solidFill>
              <a:srgbClr val="1C3355">
                <a:alpha val="45000"/>
              </a:srgbClr>
            </a:solidFill>
            <a:prstDash val="solid"/>
          </a:ln>
        </p:spPr>
      </p:sp>
      <p:sp>
        <p:nvSpPr>
          <p:cNvPr id="3" name="Shape 1"/>
          <p:cNvSpPr/>
          <p:nvPr/>
        </p:nvSpPr>
        <p:spPr>
          <a:xfrm>
            <a:off x="0" y="1719072"/>
            <a:ext cx="12161520" cy="0"/>
          </a:xfrm>
          <a:prstGeom prst="line">
            <a:avLst/>
          </a:prstGeom>
          <a:noFill/>
          <a:ln w="6350">
            <a:solidFill>
              <a:srgbClr val="1C3355">
                <a:alpha val="45000"/>
              </a:srgbClr>
            </a:solidFill>
            <a:prstDash val="solid"/>
          </a:ln>
        </p:spPr>
      </p:sp>
      <p:sp>
        <p:nvSpPr>
          <p:cNvPr id="4" name="Shape 2"/>
          <p:cNvSpPr/>
          <p:nvPr/>
        </p:nvSpPr>
        <p:spPr>
          <a:xfrm>
            <a:off x="0" y="2578608"/>
            <a:ext cx="12161520" cy="0"/>
          </a:xfrm>
          <a:prstGeom prst="line">
            <a:avLst/>
          </a:prstGeom>
          <a:noFill/>
          <a:ln w="6350">
            <a:solidFill>
              <a:srgbClr val="1C3355">
                <a:alpha val="45000"/>
              </a:srgbClr>
            </a:solidFill>
            <a:prstDash val="solid"/>
          </a:ln>
        </p:spPr>
      </p:sp>
      <p:sp>
        <p:nvSpPr>
          <p:cNvPr id="5" name="Shape 3"/>
          <p:cNvSpPr/>
          <p:nvPr/>
        </p:nvSpPr>
        <p:spPr>
          <a:xfrm>
            <a:off x="0" y="3438144"/>
            <a:ext cx="12161520" cy="0"/>
          </a:xfrm>
          <a:prstGeom prst="line">
            <a:avLst/>
          </a:prstGeom>
          <a:noFill/>
          <a:ln w="6350">
            <a:solidFill>
              <a:srgbClr val="1C3355">
                <a:alpha val="45000"/>
              </a:srgbClr>
            </a:solidFill>
            <a:prstDash val="solid"/>
          </a:ln>
        </p:spPr>
      </p:sp>
      <p:sp>
        <p:nvSpPr>
          <p:cNvPr id="6" name="Shape 4"/>
          <p:cNvSpPr/>
          <p:nvPr/>
        </p:nvSpPr>
        <p:spPr>
          <a:xfrm>
            <a:off x="0" y="4297680"/>
            <a:ext cx="12161520" cy="0"/>
          </a:xfrm>
          <a:prstGeom prst="line">
            <a:avLst/>
          </a:prstGeom>
          <a:noFill/>
          <a:ln w="6350">
            <a:solidFill>
              <a:srgbClr val="1C3355">
                <a:alpha val="45000"/>
              </a:srgbClr>
            </a:solidFill>
            <a:prstDash val="solid"/>
          </a:ln>
        </p:spPr>
      </p:sp>
      <p:sp>
        <p:nvSpPr>
          <p:cNvPr id="7" name="Shape 5"/>
          <p:cNvSpPr/>
          <p:nvPr/>
        </p:nvSpPr>
        <p:spPr>
          <a:xfrm>
            <a:off x="0" y="5157216"/>
            <a:ext cx="12161520" cy="0"/>
          </a:xfrm>
          <a:prstGeom prst="line">
            <a:avLst/>
          </a:prstGeom>
          <a:noFill/>
          <a:ln w="6350">
            <a:solidFill>
              <a:srgbClr val="1C3355">
                <a:alpha val="45000"/>
              </a:srgbClr>
            </a:solidFill>
            <a:prstDash val="solid"/>
          </a:ln>
        </p:spPr>
      </p:sp>
      <p:sp>
        <p:nvSpPr>
          <p:cNvPr id="8" name="Shape 6"/>
          <p:cNvSpPr/>
          <p:nvPr/>
        </p:nvSpPr>
        <p:spPr>
          <a:xfrm>
            <a:off x="0" y="6016752"/>
            <a:ext cx="12161520" cy="0"/>
          </a:xfrm>
          <a:prstGeom prst="line">
            <a:avLst/>
          </a:prstGeom>
          <a:noFill/>
          <a:ln w="6350">
            <a:solidFill>
              <a:srgbClr val="1C3355">
                <a:alpha val="45000"/>
              </a:srgbClr>
            </a:solidFill>
            <a:prstDash val="solid"/>
          </a:ln>
        </p:spPr>
      </p:sp>
      <p:sp>
        <p:nvSpPr>
          <p:cNvPr id="9" name="Shape 7"/>
          <p:cNvSpPr/>
          <p:nvPr/>
        </p:nvSpPr>
        <p:spPr>
          <a:xfrm>
            <a:off x="868680" y="0"/>
            <a:ext cx="0" cy="6858000"/>
          </a:xfrm>
          <a:prstGeom prst="line">
            <a:avLst/>
          </a:prstGeom>
          <a:noFill/>
          <a:ln w="6350">
            <a:solidFill>
              <a:srgbClr val="1C3355">
                <a:alpha val="45000"/>
              </a:srgbClr>
            </a:solidFill>
            <a:prstDash val="solid"/>
          </a:ln>
        </p:spPr>
      </p:sp>
      <p:sp>
        <p:nvSpPr>
          <p:cNvPr id="10" name="Shape 8"/>
          <p:cNvSpPr/>
          <p:nvPr/>
        </p:nvSpPr>
        <p:spPr>
          <a:xfrm>
            <a:off x="1737360" y="0"/>
            <a:ext cx="0" cy="6858000"/>
          </a:xfrm>
          <a:prstGeom prst="line">
            <a:avLst/>
          </a:prstGeom>
          <a:noFill/>
          <a:ln w="6350">
            <a:solidFill>
              <a:srgbClr val="1C3355">
                <a:alpha val="45000"/>
              </a:srgbClr>
            </a:solidFill>
            <a:prstDash val="solid"/>
          </a:ln>
        </p:spPr>
      </p:sp>
      <p:sp>
        <p:nvSpPr>
          <p:cNvPr id="11" name="Shape 9"/>
          <p:cNvSpPr/>
          <p:nvPr/>
        </p:nvSpPr>
        <p:spPr>
          <a:xfrm>
            <a:off x="2606040" y="0"/>
            <a:ext cx="0" cy="6858000"/>
          </a:xfrm>
          <a:prstGeom prst="line">
            <a:avLst/>
          </a:prstGeom>
          <a:noFill/>
          <a:ln w="6350">
            <a:solidFill>
              <a:srgbClr val="1C3355">
                <a:alpha val="45000"/>
              </a:srgbClr>
            </a:solidFill>
            <a:prstDash val="solid"/>
          </a:ln>
        </p:spPr>
      </p:sp>
      <p:sp>
        <p:nvSpPr>
          <p:cNvPr id="12" name="Shape 10"/>
          <p:cNvSpPr/>
          <p:nvPr/>
        </p:nvSpPr>
        <p:spPr>
          <a:xfrm>
            <a:off x="3474720" y="0"/>
            <a:ext cx="0" cy="6858000"/>
          </a:xfrm>
          <a:prstGeom prst="line">
            <a:avLst/>
          </a:prstGeom>
          <a:noFill/>
          <a:ln w="6350">
            <a:solidFill>
              <a:srgbClr val="1C3355">
                <a:alpha val="45000"/>
              </a:srgbClr>
            </a:solidFill>
            <a:prstDash val="solid"/>
          </a:ln>
        </p:spPr>
      </p:sp>
      <p:sp>
        <p:nvSpPr>
          <p:cNvPr id="13" name="Shape 11"/>
          <p:cNvSpPr/>
          <p:nvPr/>
        </p:nvSpPr>
        <p:spPr>
          <a:xfrm>
            <a:off x="4343400" y="0"/>
            <a:ext cx="0" cy="6858000"/>
          </a:xfrm>
          <a:prstGeom prst="line">
            <a:avLst/>
          </a:prstGeom>
          <a:noFill/>
          <a:ln w="6350">
            <a:solidFill>
              <a:srgbClr val="1C3355">
                <a:alpha val="45000"/>
              </a:srgbClr>
            </a:solidFill>
            <a:prstDash val="solid"/>
          </a:ln>
        </p:spPr>
      </p:sp>
      <p:sp>
        <p:nvSpPr>
          <p:cNvPr id="14" name="Shape 12"/>
          <p:cNvSpPr/>
          <p:nvPr/>
        </p:nvSpPr>
        <p:spPr>
          <a:xfrm>
            <a:off x="5212080" y="0"/>
            <a:ext cx="0" cy="6858000"/>
          </a:xfrm>
          <a:prstGeom prst="line">
            <a:avLst/>
          </a:prstGeom>
          <a:noFill/>
          <a:ln w="6350">
            <a:solidFill>
              <a:srgbClr val="1C3355">
                <a:alpha val="45000"/>
              </a:srgbClr>
            </a:solidFill>
            <a:prstDash val="solid"/>
          </a:ln>
        </p:spPr>
      </p:sp>
      <p:sp>
        <p:nvSpPr>
          <p:cNvPr id="15" name="Shape 13"/>
          <p:cNvSpPr/>
          <p:nvPr/>
        </p:nvSpPr>
        <p:spPr>
          <a:xfrm>
            <a:off x="6080760" y="0"/>
            <a:ext cx="0" cy="6858000"/>
          </a:xfrm>
          <a:prstGeom prst="line">
            <a:avLst/>
          </a:prstGeom>
          <a:noFill/>
          <a:ln w="6350">
            <a:solidFill>
              <a:srgbClr val="1C3355">
                <a:alpha val="45000"/>
              </a:srgbClr>
            </a:solidFill>
            <a:prstDash val="solid"/>
          </a:ln>
        </p:spPr>
      </p:sp>
      <p:sp>
        <p:nvSpPr>
          <p:cNvPr id="16" name="Shape 14"/>
          <p:cNvSpPr/>
          <p:nvPr/>
        </p:nvSpPr>
        <p:spPr>
          <a:xfrm>
            <a:off x="6949440" y="0"/>
            <a:ext cx="0" cy="6858000"/>
          </a:xfrm>
          <a:prstGeom prst="line">
            <a:avLst/>
          </a:prstGeom>
          <a:noFill/>
          <a:ln w="6350">
            <a:solidFill>
              <a:srgbClr val="1C3355">
                <a:alpha val="45000"/>
              </a:srgbClr>
            </a:solidFill>
            <a:prstDash val="solid"/>
          </a:ln>
        </p:spPr>
      </p:sp>
      <p:sp>
        <p:nvSpPr>
          <p:cNvPr id="17" name="Shape 15"/>
          <p:cNvSpPr/>
          <p:nvPr/>
        </p:nvSpPr>
        <p:spPr>
          <a:xfrm>
            <a:off x="7818120" y="0"/>
            <a:ext cx="0" cy="6858000"/>
          </a:xfrm>
          <a:prstGeom prst="line">
            <a:avLst/>
          </a:prstGeom>
          <a:noFill/>
          <a:ln w="6350">
            <a:solidFill>
              <a:srgbClr val="1C3355">
                <a:alpha val="45000"/>
              </a:srgbClr>
            </a:solidFill>
            <a:prstDash val="solid"/>
          </a:ln>
        </p:spPr>
      </p:sp>
      <p:sp>
        <p:nvSpPr>
          <p:cNvPr id="18" name="Shape 16"/>
          <p:cNvSpPr/>
          <p:nvPr/>
        </p:nvSpPr>
        <p:spPr>
          <a:xfrm>
            <a:off x="8686800" y="0"/>
            <a:ext cx="0" cy="6858000"/>
          </a:xfrm>
          <a:prstGeom prst="line">
            <a:avLst/>
          </a:prstGeom>
          <a:noFill/>
          <a:ln w="6350">
            <a:solidFill>
              <a:srgbClr val="1C3355">
                <a:alpha val="45000"/>
              </a:srgbClr>
            </a:solidFill>
            <a:prstDash val="solid"/>
          </a:ln>
        </p:spPr>
      </p:sp>
      <p:sp>
        <p:nvSpPr>
          <p:cNvPr id="19" name="Shape 17"/>
          <p:cNvSpPr/>
          <p:nvPr/>
        </p:nvSpPr>
        <p:spPr>
          <a:xfrm>
            <a:off x="9555480" y="0"/>
            <a:ext cx="0" cy="6858000"/>
          </a:xfrm>
          <a:prstGeom prst="line">
            <a:avLst/>
          </a:prstGeom>
          <a:noFill/>
          <a:ln w="6350">
            <a:solidFill>
              <a:srgbClr val="1C3355">
                <a:alpha val="45000"/>
              </a:srgbClr>
            </a:solidFill>
            <a:prstDash val="solid"/>
          </a:ln>
        </p:spPr>
      </p:sp>
      <p:sp>
        <p:nvSpPr>
          <p:cNvPr id="20" name="Shape 18"/>
          <p:cNvSpPr/>
          <p:nvPr/>
        </p:nvSpPr>
        <p:spPr>
          <a:xfrm>
            <a:off x="10424160" y="0"/>
            <a:ext cx="0" cy="6858000"/>
          </a:xfrm>
          <a:prstGeom prst="line">
            <a:avLst/>
          </a:prstGeom>
          <a:noFill/>
          <a:ln w="6350">
            <a:solidFill>
              <a:srgbClr val="1C3355">
                <a:alpha val="45000"/>
              </a:srgbClr>
            </a:solidFill>
            <a:prstDash val="solid"/>
          </a:ln>
        </p:spPr>
      </p:sp>
      <p:sp>
        <p:nvSpPr>
          <p:cNvPr id="21" name="Shape 19"/>
          <p:cNvSpPr/>
          <p:nvPr/>
        </p:nvSpPr>
        <p:spPr>
          <a:xfrm>
            <a:off x="11292840" y="0"/>
            <a:ext cx="0" cy="6858000"/>
          </a:xfrm>
          <a:prstGeom prst="line">
            <a:avLst/>
          </a:prstGeom>
          <a:noFill/>
          <a:ln w="6350">
            <a:solidFill>
              <a:srgbClr val="1C3355">
                <a:alpha val="45000"/>
              </a:srgbClr>
            </a:solidFill>
            <a:prstDash val="solid"/>
          </a:ln>
        </p:spPr>
      </p:sp>
      <p:sp>
        <p:nvSpPr>
          <p:cNvPr id="22" name="Shape 20"/>
          <p:cNvSpPr/>
          <p:nvPr/>
        </p:nvSpPr>
        <p:spPr>
          <a:xfrm>
            <a:off x="8686800" y="-1828800"/>
            <a:ext cx="5486400" cy="5486400"/>
          </a:xfrm>
          <a:prstGeom prst="ellipse">
            <a:avLst/>
          </a:prstGeom>
          <a:solidFill>
            <a:srgbClr val="00A99D">
              <a:alpha val="10000"/>
            </a:srgbClr>
          </a:solidFill>
          <a:ln/>
        </p:spPr>
      </p:sp>
      <p:sp>
        <p:nvSpPr>
          <p:cNvPr id="23" name="Shape 21"/>
          <p:cNvSpPr/>
          <p:nvPr/>
        </p:nvSpPr>
        <p:spPr>
          <a:xfrm>
            <a:off x="548640" y="502920"/>
            <a:ext cx="4572000" cy="310896"/>
          </a:xfrm>
          <a:prstGeom prst="roundRect">
            <a:avLst>
              <a:gd name="adj" fmla="val 50000"/>
            </a:avLst>
          </a:prstGeom>
          <a:solidFill>
            <a:srgbClr val="0B1F3A"/>
          </a:solidFill>
          <a:ln w="12700">
            <a:solidFill>
              <a:srgbClr val="00A99D"/>
            </a:solidFill>
            <a:prstDash val="solid"/>
          </a:ln>
        </p:spPr>
      </p:sp>
      <p:sp>
        <p:nvSpPr>
          <p:cNvPr id="24" name="Text 22"/>
          <p:cNvSpPr txBox="1"/>
          <p:nvPr/>
        </p:nvSpPr>
        <p:spPr>
          <a:xfrm>
            <a:off x="548640" y="502920"/>
            <a:ext cx="4572000" cy="310896"/>
          </a:xfrm>
          <a:prstGeom prst="rect">
            <a:avLst/>
          </a:prstGeom>
          <a:noFill/>
          <a:ln/>
        </p:spPr>
        <p:txBody>
          <a:bodyPr wrap="square" lIns="0" tIns="0" rIns="0" bIns="0" rtlCol="0" anchor="ctr"/>
          <a:lstStyle/>
          <a:p>
            <a:pPr algn="ctr" indent="0" marL="0">
              <a:buNone/>
            </a:pPr>
            <a:r>
              <a:rPr lang="en-US" sz="1000" b="1" spc="100" kern="0" dirty="0">
                <a:solidFill>
                  <a:srgbClr val="00A99D"/>
                </a:solidFill>
                <a:latin typeface="Courier New" pitchFamily="34" charset="0"/>
                <a:ea typeface="Courier New" pitchFamily="34" charset="-122"/>
                <a:cs typeface="Courier New" pitchFamily="34" charset="-120"/>
              </a:rPr>
              <a:t>IBM BOB AI INNOVATION HACKATHON 2026</a:t>
            </a:r>
            <a:endParaRPr lang="en-US" sz="1000" dirty="0"/>
          </a:p>
        </p:txBody>
      </p:sp>
      <p:sp>
        <p:nvSpPr>
          <p:cNvPr id="25" name="Shape 23"/>
          <p:cNvSpPr/>
          <p:nvPr/>
        </p:nvSpPr>
        <p:spPr>
          <a:xfrm>
            <a:off x="5257800" y="502920"/>
            <a:ext cx="1737360" cy="310896"/>
          </a:xfrm>
          <a:prstGeom prst="roundRect">
            <a:avLst>
              <a:gd name="adj" fmla="val 50000"/>
            </a:avLst>
          </a:prstGeom>
          <a:solidFill>
            <a:srgbClr val="0B1F3A"/>
          </a:solidFill>
          <a:ln w="12700">
            <a:solidFill>
              <a:srgbClr val="C98A00"/>
            </a:solidFill>
            <a:prstDash val="solid"/>
          </a:ln>
        </p:spPr>
      </p:sp>
      <p:sp>
        <p:nvSpPr>
          <p:cNvPr id="26" name="Text 24"/>
          <p:cNvSpPr txBox="1"/>
          <p:nvPr/>
        </p:nvSpPr>
        <p:spPr>
          <a:xfrm>
            <a:off x="5257800" y="502920"/>
            <a:ext cx="1737360" cy="310896"/>
          </a:xfrm>
          <a:prstGeom prst="rect">
            <a:avLst/>
          </a:prstGeom>
          <a:noFill/>
          <a:ln/>
        </p:spPr>
        <p:txBody>
          <a:bodyPr wrap="square" lIns="0" tIns="0" rIns="0" bIns="0" rtlCol="0" anchor="ctr"/>
          <a:lstStyle/>
          <a:p>
            <a:pPr algn="ctr" indent="0" marL="0">
              <a:buNone/>
            </a:pPr>
            <a:r>
              <a:rPr lang="en-US" sz="1000" b="1" spc="100" kern="0" dirty="0">
                <a:solidFill>
                  <a:srgbClr val="C98A00"/>
                </a:solidFill>
                <a:latin typeface="Courier New" pitchFamily="34" charset="0"/>
                <a:ea typeface="Courier New" pitchFamily="34" charset="-122"/>
                <a:cs typeface="Courier New" pitchFamily="34" charset="-120"/>
              </a:rPr>
              <a:t>AI TRACK · U2</a:t>
            </a:r>
            <a:endParaRPr lang="en-US" sz="1000" dirty="0"/>
          </a:p>
        </p:txBody>
      </p:sp>
      <p:sp>
        <p:nvSpPr>
          <p:cNvPr id="27" name="Text 25"/>
          <p:cNvSpPr txBox="1"/>
          <p:nvPr/>
        </p:nvSpPr>
        <p:spPr>
          <a:xfrm>
            <a:off x="548640" y="1417320"/>
            <a:ext cx="10515600" cy="1828800"/>
          </a:xfrm>
          <a:prstGeom prst="rect">
            <a:avLst/>
          </a:prstGeom>
          <a:noFill/>
          <a:ln/>
        </p:spPr>
        <p:txBody>
          <a:bodyPr wrap="square" lIns="0" tIns="0" rIns="0" bIns="0" rtlCol="0" anchor="t"/>
          <a:lstStyle/>
          <a:p>
            <a:pPr indent="0" marL="0">
              <a:buNone/>
            </a:pPr>
            <a:r>
              <a:rPr lang="en-US" sz="5400" b="1" dirty="0">
                <a:solidFill>
                  <a:srgbClr val="FFFFFF"/>
                </a:solidFill>
                <a:latin typeface="Century Schoolbook" pitchFamily="34" charset="0"/>
                <a:ea typeface="Century Schoolbook" pitchFamily="34" charset="-122"/>
                <a:cs typeface="Century Schoolbook" pitchFamily="34" charset="-120"/>
              </a:rPr>
              <a:t>GridWise AI</a:t>
            </a:r>
            <a:endParaRPr lang="en-US" sz="5400" dirty="0"/>
          </a:p>
          <a:p>
            <a:pPr indent="0" marL="0">
              <a:buNone/>
            </a:pPr>
            <a:r>
              <a:rPr lang="en-US" sz="2200" dirty="0">
                <a:solidFill>
                  <a:srgbClr val="00A99D"/>
                </a:solidFill>
                <a:latin typeface="Century Schoolbook" pitchFamily="34" charset="0"/>
                <a:ea typeface="Century Schoolbook" pitchFamily="34" charset="-122"/>
                <a:cs typeface="Century Schoolbook" pitchFamily="34" charset="-120"/>
              </a:rPr>
              <a:t>Intelligent Grid Load &amp; Renewable Performance Advisor</a:t>
            </a:r>
            <a:endParaRPr lang="en-US" sz="5400" dirty="0"/>
          </a:p>
        </p:txBody>
      </p:sp>
      <p:sp>
        <p:nvSpPr>
          <p:cNvPr id="28" name="Shape 26"/>
          <p:cNvSpPr/>
          <p:nvPr/>
        </p:nvSpPr>
        <p:spPr>
          <a:xfrm>
            <a:off x="566928" y="3063240"/>
            <a:ext cx="2926080" cy="0"/>
          </a:xfrm>
          <a:prstGeom prst="line">
            <a:avLst/>
          </a:prstGeom>
          <a:noFill/>
          <a:ln w="25400">
            <a:solidFill>
              <a:srgbClr val="C98A00"/>
            </a:solidFill>
            <a:prstDash val="solid"/>
          </a:ln>
        </p:spPr>
      </p:sp>
      <p:sp>
        <p:nvSpPr>
          <p:cNvPr id="29" name="Text 27"/>
          <p:cNvSpPr txBox="1"/>
          <p:nvPr/>
        </p:nvSpPr>
        <p:spPr>
          <a:xfrm>
            <a:off x="548640" y="3246120"/>
            <a:ext cx="8412480" cy="640080"/>
          </a:xfrm>
          <a:prstGeom prst="rect">
            <a:avLst/>
          </a:prstGeom>
          <a:noFill/>
          <a:ln/>
        </p:spPr>
        <p:txBody>
          <a:bodyPr wrap="square" lIns="0" tIns="0" rIns="0" bIns="0" rtlCol="0" anchor="ctr"/>
          <a:lstStyle/>
          <a:p>
            <a:pPr indent="0" marL="0">
              <a:buNone/>
            </a:pPr>
            <a:r>
              <a:rPr lang="en-US" sz="1600" i="1" dirty="0">
                <a:solidFill>
                  <a:srgbClr val="C7D2E6"/>
                </a:solidFill>
                <a:latin typeface="Calibri" pitchFamily="34" charset="0"/>
                <a:ea typeface="Calibri" pitchFamily="34" charset="-122"/>
                <a:cs typeface="Calibri" pitchFamily="34" charset="-120"/>
              </a:rPr>
              <a:t>Closing the 8 TWh Clean Energy Curtailment Gap with Predictive AI &amp; IBM Bob</a:t>
            </a:r>
            <a:endParaRPr lang="en-US" sz="1600" dirty="0"/>
          </a:p>
        </p:txBody>
      </p:sp>
      <p:sp>
        <p:nvSpPr>
          <p:cNvPr id="30" name="Shape 28"/>
          <p:cNvSpPr/>
          <p:nvPr/>
        </p:nvSpPr>
        <p:spPr>
          <a:xfrm>
            <a:off x="548640" y="4114800"/>
            <a:ext cx="11064240" cy="2148840"/>
          </a:xfrm>
          <a:prstGeom prst="roundRect">
            <a:avLst>
              <a:gd name="adj" fmla="val 3404"/>
            </a:avLst>
          </a:prstGeom>
          <a:solidFill>
            <a:srgbClr val="0F294A"/>
          </a:solidFill>
          <a:ln w="12700">
            <a:solidFill>
              <a:srgbClr val="00A99D"/>
            </a:solidFill>
            <a:prstDash val="solid"/>
          </a:ln>
        </p:spPr>
      </p:sp>
      <p:sp>
        <p:nvSpPr>
          <p:cNvPr id="31" name="Text 29"/>
          <p:cNvSpPr txBox="1"/>
          <p:nvPr/>
        </p:nvSpPr>
        <p:spPr>
          <a:xfrm>
            <a:off x="868680" y="4251960"/>
            <a:ext cx="5486400" cy="320040"/>
          </a:xfrm>
          <a:prstGeom prst="rect">
            <a:avLst/>
          </a:prstGeom>
          <a:noFill/>
          <a:ln/>
        </p:spPr>
        <p:txBody>
          <a:bodyPr wrap="square" lIns="0" tIns="0" rIns="0" bIns="0" rtlCol="0" anchor="ctr"/>
          <a:lstStyle/>
          <a:p>
            <a:pPr indent="0" marL="0">
              <a:buNone/>
            </a:pPr>
            <a:r>
              <a:rPr lang="en-US" sz="1300" b="1" spc="200" kern="0" dirty="0">
                <a:solidFill>
                  <a:srgbClr val="C98A00"/>
                </a:solidFill>
                <a:latin typeface="Courier New" pitchFamily="34" charset="0"/>
                <a:ea typeface="Courier New" pitchFamily="34" charset="-122"/>
                <a:cs typeface="Courier New" pitchFamily="34" charset="-120"/>
              </a:rPr>
              <a:t>TEAM  OUTLIERS</a:t>
            </a:r>
            <a:endParaRPr lang="en-US" sz="1300" dirty="0"/>
          </a:p>
        </p:txBody>
      </p:sp>
      <p:sp>
        <p:nvSpPr>
          <p:cNvPr id="32" name="Shape 30"/>
          <p:cNvSpPr/>
          <p:nvPr/>
        </p:nvSpPr>
        <p:spPr>
          <a:xfrm>
            <a:off x="868680" y="4709160"/>
            <a:ext cx="0" cy="1417320"/>
          </a:xfrm>
          <a:prstGeom prst="line">
            <a:avLst/>
          </a:prstGeom>
          <a:noFill/>
          <a:ln w="12700">
            <a:solidFill>
              <a:srgbClr val="23446E"/>
            </a:solidFill>
            <a:prstDash val="solid"/>
          </a:ln>
        </p:spPr>
      </p:sp>
      <p:sp>
        <p:nvSpPr>
          <p:cNvPr id="33" name="Text 31"/>
          <p:cNvSpPr txBox="1"/>
          <p:nvPr/>
        </p:nvSpPr>
        <p:spPr>
          <a:xfrm>
            <a:off x="1005840" y="4736592"/>
            <a:ext cx="24231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Smit Bhalani</a:t>
            </a:r>
            <a:endParaRPr lang="en-US" sz="1400" dirty="0"/>
          </a:p>
        </p:txBody>
      </p:sp>
      <p:sp>
        <p:nvSpPr>
          <p:cNvPr id="34" name="Text 32"/>
          <p:cNvSpPr txBox="1"/>
          <p:nvPr/>
        </p:nvSpPr>
        <p:spPr>
          <a:xfrm>
            <a:off x="1005840" y="5029200"/>
            <a:ext cx="2423160" cy="228600"/>
          </a:xfrm>
          <a:prstGeom prst="rect">
            <a:avLst/>
          </a:prstGeom>
          <a:noFill/>
          <a:ln/>
        </p:spPr>
        <p:txBody>
          <a:bodyPr wrap="square" lIns="0" tIns="0" rIns="0" bIns="0" rtlCol="0" anchor="ctr"/>
          <a:lstStyle/>
          <a:p>
            <a:pPr indent="0" marL="0">
              <a:buNone/>
            </a:pPr>
            <a:r>
              <a:rPr lang="en-US" sz="900" dirty="0">
                <a:solidFill>
                  <a:srgbClr val="00A99D"/>
                </a:solidFill>
                <a:latin typeface="Courier New" pitchFamily="34" charset="0"/>
                <a:ea typeface="Courier New" pitchFamily="34" charset="-122"/>
                <a:cs typeface="Courier New" pitchFamily="34" charset="-120"/>
              </a:rPr>
              <a:t>Team Lead  ·  d25ce143</a:t>
            </a:r>
            <a:endParaRPr lang="en-US" sz="900" dirty="0"/>
          </a:p>
        </p:txBody>
      </p:sp>
      <p:sp>
        <p:nvSpPr>
          <p:cNvPr id="35" name="Text 33"/>
          <p:cNvSpPr txBox="1"/>
          <p:nvPr/>
        </p:nvSpPr>
        <p:spPr>
          <a:xfrm>
            <a:off x="1005840" y="5303520"/>
            <a:ext cx="2468880" cy="73152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Full-Stack Architecture &amp; IBM Bob MCP Integration</a:t>
            </a:r>
            <a:endParaRPr lang="en-US" sz="1000" dirty="0"/>
          </a:p>
        </p:txBody>
      </p:sp>
      <p:sp>
        <p:nvSpPr>
          <p:cNvPr id="36" name="Shape 34"/>
          <p:cNvSpPr/>
          <p:nvPr/>
        </p:nvSpPr>
        <p:spPr>
          <a:xfrm>
            <a:off x="3566160" y="4709160"/>
            <a:ext cx="0" cy="1417320"/>
          </a:xfrm>
          <a:prstGeom prst="line">
            <a:avLst/>
          </a:prstGeom>
          <a:noFill/>
          <a:ln w="12700">
            <a:solidFill>
              <a:srgbClr val="23446E"/>
            </a:solidFill>
            <a:prstDash val="solid"/>
          </a:ln>
        </p:spPr>
      </p:sp>
      <p:sp>
        <p:nvSpPr>
          <p:cNvPr id="37" name="Text 35"/>
          <p:cNvSpPr txBox="1"/>
          <p:nvPr/>
        </p:nvSpPr>
        <p:spPr>
          <a:xfrm>
            <a:off x="3703320" y="4736592"/>
            <a:ext cx="24231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Aryan Patel</a:t>
            </a:r>
            <a:endParaRPr lang="en-US" sz="1400" dirty="0"/>
          </a:p>
        </p:txBody>
      </p:sp>
      <p:sp>
        <p:nvSpPr>
          <p:cNvPr id="38" name="Text 36"/>
          <p:cNvSpPr txBox="1"/>
          <p:nvPr/>
        </p:nvSpPr>
        <p:spPr>
          <a:xfrm>
            <a:off x="3703320" y="5029200"/>
            <a:ext cx="2423160" cy="228600"/>
          </a:xfrm>
          <a:prstGeom prst="rect">
            <a:avLst/>
          </a:prstGeom>
          <a:noFill/>
          <a:ln/>
        </p:spPr>
        <p:txBody>
          <a:bodyPr wrap="square" lIns="0" tIns="0" rIns="0" bIns="0" rtlCol="0" anchor="ctr"/>
          <a:lstStyle/>
          <a:p>
            <a:pPr indent="0" marL="0">
              <a:buNone/>
            </a:pPr>
            <a:r>
              <a:rPr lang="en-US" sz="900" dirty="0">
                <a:solidFill>
                  <a:srgbClr val="00A99D"/>
                </a:solidFill>
                <a:latin typeface="Courier New" pitchFamily="34" charset="0"/>
                <a:ea typeface="Courier New" pitchFamily="34" charset="-122"/>
                <a:cs typeface="Courier New" pitchFamily="34" charset="-120"/>
              </a:rPr>
              <a:t>Member  ·  d25ce158</a:t>
            </a:r>
            <a:endParaRPr lang="en-US" sz="900" dirty="0"/>
          </a:p>
        </p:txBody>
      </p:sp>
      <p:sp>
        <p:nvSpPr>
          <p:cNvPr id="39" name="Text 37"/>
          <p:cNvSpPr txBox="1"/>
          <p:nvPr/>
        </p:nvSpPr>
        <p:spPr>
          <a:xfrm>
            <a:off x="3703320" y="5303520"/>
            <a:ext cx="2468880" cy="73152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XGBoost ML Forecasting &amp; Curtailment Optimization</a:t>
            </a:r>
            <a:endParaRPr lang="en-US" sz="1000" dirty="0"/>
          </a:p>
        </p:txBody>
      </p:sp>
      <p:sp>
        <p:nvSpPr>
          <p:cNvPr id="40" name="Shape 38"/>
          <p:cNvSpPr/>
          <p:nvPr/>
        </p:nvSpPr>
        <p:spPr>
          <a:xfrm>
            <a:off x="6263640" y="4709160"/>
            <a:ext cx="0" cy="1417320"/>
          </a:xfrm>
          <a:prstGeom prst="line">
            <a:avLst/>
          </a:prstGeom>
          <a:noFill/>
          <a:ln w="12700">
            <a:solidFill>
              <a:srgbClr val="23446E"/>
            </a:solidFill>
            <a:prstDash val="solid"/>
          </a:ln>
        </p:spPr>
      </p:sp>
      <p:sp>
        <p:nvSpPr>
          <p:cNvPr id="41" name="Text 39"/>
          <p:cNvSpPr txBox="1"/>
          <p:nvPr/>
        </p:nvSpPr>
        <p:spPr>
          <a:xfrm>
            <a:off x="6400800" y="4736592"/>
            <a:ext cx="24231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Chaitya Vakani</a:t>
            </a:r>
            <a:endParaRPr lang="en-US" sz="1400" dirty="0"/>
          </a:p>
        </p:txBody>
      </p:sp>
      <p:sp>
        <p:nvSpPr>
          <p:cNvPr id="42" name="Text 40"/>
          <p:cNvSpPr txBox="1"/>
          <p:nvPr/>
        </p:nvSpPr>
        <p:spPr>
          <a:xfrm>
            <a:off x="6400800" y="5029200"/>
            <a:ext cx="2423160" cy="228600"/>
          </a:xfrm>
          <a:prstGeom prst="rect">
            <a:avLst/>
          </a:prstGeom>
          <a:noFill/>
          <a:ln/>
        </p:spPr>
        <p:txBody>
          <a:bodyPr wrap="square" lIns="0" tIns="0" rIns="0" bIns="0" rtlCol="0" anchor="ctr"/>
          <a:lstStyle/>
          <a:p>
            <a:pPr indent="0" marL="0">
              <a:buNone/>
            </a:pPr>
            <a:r>
              <a:rPr lang="en-US" sz="900" dirty="0">
                <a:solidFill>
                  <a:srgbClr val="00A99D"/>
                </a:solidFill>
                <a:latin typeface="Courier New" pitchFamily="34" charset="0"/>
                <a:ea typeface="Courier New" pitchFamily="34" charset="-122"/>
                <a:cs typeface="Courier New" pitchFamily="34" charset="-120"/>
              </a:rPr>
              <a:t>Member  ·  d25ce152</a:t>
            </a:r>
            <a:endParaRPr lang="en-US" sz="900" dirty="0"/>
          </a:p>
        </p:txBody>
      </p:sp>
      <p:sp>
        <p:nvSpPr>
          <p:cNvPr id="43" name="Text 41"/>
          <p:cNvSpPr txBox="1"/>
          <p:nvPr/>
        </p:nvSpPr>
        <p:spPr>
          <a:xfrm>
            <a:off x="6400800" y="5303520"/>
            <a:ext cx="2468880" cy="73152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Physics-Based Generation Modeling &amp; Anomaly Detection</a:t>
            </a:r>
            <a:endParaRPr lang="en-US" sz="1000" dirty="0"/>
          </a:p>
        </p:txBody>
      </p:sp>
      <p:sp>
        <p:nvSpPr>
          <p:cNvPr id="44" name="Shape 42"/>
          <p:cNvSpPr/>
          <p:nvPr/>
        </p:nvSpPr>
        <p:spPr>
          <a:xfrm>
            <a:off x="8961120" y="4709160"/>
            <a:ext cx="0" cy="1417320"/>
          </a:xfrm>
          <a:prstGeom prst="line">
            <a:avLst/>
          </a:prstGeom>
          <a:noFill/>
          <a:ln w="12700">
            <a:solidFill>
              <a:srgbClr val="23446E"/>
            </a:solidFill>
            <a:prstDash val="solid"/>
          </a:ln>
        </p:spPr>
      </p:sp>
      <p:sp>
        <p:nvSpPr>
          <p:cNvPr id="45" name="Text 43"/>
          <p:cNvSpPr txBox="1"/>
          <p:nvPr/>
        </p:nvSpPr>
        <p:spPr>
          <a:xfrm>
            <a:off x="9098280" y="4736592"/>
            <a:ext cx="24231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Vedant Bhatt</a:t>
            </a:r>
            <a:endParaRPr lang="en-US" sz="1400" dirty="0"/>
          </a:p>
        </p:txBody>
      </p:sp>
      <p:sp>
        <p:nvSpPr>
          <p:cNvPr id="46" name="Text 44"/>
          <p:cNvSpPr txBox="1"/>
          <p:nvPr/>
        </p:nvSpPr>
        <p:spPr>
          <a:xfrm>
            <a:off x="9098280" y="5029200"/>
            <a:ext cx="2423160" cy="228600"/>
          </a:xfrm>
          <a:prstGeom prst="rect">
            <a:avLst/>
          </a:prstGeom>
          <a:noFill/>
          <a:ln/>
        </p:spPr>
        <p:txBody>
          <a:bodyPr wrap="square" lIns="0" tIns="0" rIns="0" bIns="0" rtlCol="0" anchor="ctr"/>
          <a:lstStyle/>
          <a:p>
            <a:pPr indent="0" marL="0">
              <a:buNone/>
            </a:pPr>
            <a:r>
              <a:rPr lang="en-US" sz="900" dirty="0">
                <a:solidFill>
                  <a:srgbClr val="00A99D"/>
                </a:solidFill>
                <a:latin typeface="Courier New" pitchFamily="34" charset="0"/>
                <a:ea typeface="Courier New" pitchFamily="34" charset="-122"/>
                <a:cs typeface="Courier New" pitchFamily="34" charset="-120"/>
              </a:rPr>
              <a:t>Member  ·  d25ce169</a:t>
            </a:r>
            <a:endParaRPr lang="en-US" sz="900" dirty="0"/>
          </a:p>
        </p:txBody>
      </p:sp>
      <p:sp>
        <p:nvSpPr>
          <p:cNvPr id="47" name="Text 45"/>
          <p:cNvSpPr txBox="1"/>
          <p:nvPr/>
        </p:nvSpPr>
        <p:spPr>
          <a:xfrm>
            <a:off x="9098280" y="5303520"/>
            <a:ext cx="2468880" cy="73152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Root Cause Analysis (RCA) &amp; Operator UI Design</a:t>
            </a:r>
            <a:endParaRPr lang="en-US" sz="1000" dirty="0"/>
          </a:p>
        </p:txBody>
      </p:sp>
      <p:sp>
        <p:nvSpPr>
          <p:cNvPr id="48" name="Text 46"/>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AEB8CC"/>
                </a:solidFill>
                <a:latin typeface="Calibri" pitchFamily="34" charset="0"/>
                <a:ea typeface="Calibri" pitchFamily="34" charset="-122"/>
                <a:cs typeface="Calibri" pitchFamily="34" charset="-120"/>
              </a:rPr>
              <a:t>GRIDWISE AI  ·  TEAM OUTLIERS</a:t>
            </a:r>
            <a:endParaRPr lang="en-US" sz="900" dirty="0"/>
          </a:p>
        </p:txBody>
      </p:sp>
      <p:sp>
        <p:nvSpPr>
          <p:cNvPr id="49" name="Text 47"/>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AEB8CC"/>
                </a:solidFill>
                <a:latin typeface="Courier New" pitchFamily="34" charset="0"/>
                <a:ea typeface="Courier New" pitchFamily="34" charset="-122"/>
                <a:cs typeface="Courier New" pitchFamily="34" charset="-120"/>
              </a:rPr>
              <a:t>01 / 08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100" b="1" spc="200" kern="0" dirty="0">
                <a:solidFill>
                  <a:srgbClr val="007A72"/>
                </a:solidFill>
                <a:latin typeface="Courier New" pitchFamily="34" charset="0"/>
                <a:ea typeface="Courier New" pitchFamily="34" charset="-122"/>
                <a:cs typeface="Courier New" pitchFamily="34" charset="-120"/>
              </a:rPr>
              <a:t>THE CRITICAL PROBLEM</a:t>
            </a:r>
            <a:endParaRPr lang="en-US" sz="1100" dirty="0"/>
          </a:p>
        </p:txBody>
      </p:sp>
      <p:sp>
        <p:nvSpPr>
          <p:cNvPr id="3" name="Text 1"/>
          <p:cNvSpPr txBox="1"/>
          <p:nvPr/>
        </p:nvSpPr>
        <p:spPr>
          <a:xfrm>
            <a:off x="548640" y="749808"/>
            <a:ext cx="10515600" cy="640080"/>
          </a:xfrm>
          <a:prstGeom prst="rect">
            <a:avLst/>
          </a:prstGeom>
          <a:noFill/>
          <a:ln/>
        </p:spPr>
        <p:txBody>
          <a:bodyPr wrap="square" lIns="0" tIns="0" rIns="0" bIns="0" rtlCol="0" anchor="ctr"/>
          <a:lstStyle/>
          <a:p>
            <a:pPr indent="0" marL="0">
              <a:buNone/>
            </a:pPr>
            <a:r>
              <a:rPr lang="en-US" sz="3200" b="1" dirty="0">
                <a:solidFill>
                  <a:srgbClr val="0B1220"/>
                </a:solidFill>
                <a:latin typeface="Century Schoolbook" pitchFamily="34" charset="0"/>
                <a:ea typeface="Century Schoolbook" pitchFamily="34" charset="-122"/>
                <a:cs typeface="Century Schoolbook" pitchFamily="34" charset="-120"/>
              </a:rPr>
              <a:t>The Renewable Curtailment Paradox</a:t>
            </a:r>
            <a:endParaRPr lang="en-US" sz="32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indent="0" marL="0">
              <a:buNone/>
            </a:pPr>
            <a:r>
              <a:rPr lang="en-US" sz="1500" i="1" dirty="0">
                <a:solidFill>
                  <a:srgbClr val="5B6478"/>
                </a:solidFill>
                <a:latin typeface="Calibri" pitchFamily="34" charset="0"/>
                <a:ea typeface="Calibri" pitchFamily="34" charset="-122"/>
                <a:cs typeface="Calibri" pitchFamily="34" charset="-120"/>
              </a:rPr>
              <a:t>We are throwing away clean energy — on purpose.</a:t>
            </a:r>
            <a:endParaRPr lang="en-US" sz="1500" dirty="0"/>
          </a:p>
        </p:txBody>
      </p:sp>
      <p:sp>
        <p:nvSpPr>
          <p:cNvPr id="5" name="Shape 3"/>
          <p:cNvSpPr/>
          <p:nvPr/>
        </p:nvSpPr>
        <p:spPr>
          <a:xfrm>
            <a:off x="548640" y="1965960"/>
            <a:ext cx="3538728" cy="3246120"/>
          </a:xfrm>
          <a:prstGeom prst="roundRect">
            <a:avLst>
              <a:gd name="adj" fmla="val 1972"/>
            </a:avLst>
          </a:prstGeom>
          <a:solidFill>
            <a:srgbClr val="F4F7FB"/>
          </a:solidFill>
          <a:ln w="15875">
            <a:solidFill>
              <a:srgbClr val="D8264A"/>
            </a:solidFill>
            <a:prstDash val="solid"/>
          </a:ln>
          <a:effectLst>
            <a:outerShdw sx="100000" sy="100000" kx="0" ky="0" algn="bl" rotWithShape="0" blurRad="101600" dist="25400" dir="5400000">
              <a:srgbClr val="6B7A99">
                <a:alpha val="18000"/>
              </a:srgbClr>
            </a:outerShdw>
          </a:effectLst>
        </p:spPr>
      </p:sp>
      <p:sp>
        <p:nvSpPr>
          <p:cNvPr id="6" name="Shape 4"/>
          <p:cNvSpPr/>
          <p:nvPr/>
        </p:nvSpPr>
        <p:spPr>
          <a:xfrm>
            <a:off x="822960" y="2286000"/>
            <a:ext cx="914400" cy="914400"/>
          </a:xfrm>
          <a:prstGeom prst="ellipse">
            <a:avLst/>
          </a:prstGeom>
          <a:solidFill>
            <a:srgbClr val="FFFFFF"/>
          </a:solidFill>
          <a:ln w="19050">
            <a:solidFill>
              <a:srgbClr val="D8264A"/>
            </a:solidFill>
            <a:prstDash val="solid"/>
          </a:ln>
        </p:spPr>
      </p:sp>
      <p:sp>
        <p:nvSpPr>
          <p:cNvPr id="7" name="Text 5"/>
          <p:cNvSpPr txBox="1"/>
          <p:nvPr/>
        </p:nvSpPr>
        <p:spPr>
          <a:xfrm>
            <a:off x="822960" y="2286000"/>
            <a:ext cx="914400" cy="914400"/>
          </a:xfrm>
          <a:prstGeom prst="rect">
            <a:avLst/>
          </a:prstGeom>
          <a:noFill/>
          <a:ln/>
        </p:spPr>
        <p:txBody>
          <a:bodyPr wrap="square" lIns="0" tIns="0" rIns="0" bIns="0" rtlCol="0" anchor="ctr"/>
          <a:lstStyle/>
          <a:p>
            <a:pPr algn="ctr" indent="0" marL="0">
              <a:buNone/>
            </a:pPr>
            <a:r>
              <a:rPr lang="en-US" sz="2600" b="1" dirty="0">
                <a:solidFill>
                  <a:srgbClr val="D8264A"/>
                </a:solidFill>
                <a:latin typeface="Courier New" pitchFamily="34" charset="0"/>
                <a:ea typeface="Courier New" pitchFamily="34" charset="-122"/>
                <a:cs typeface="Courier New" pitchFamily="34" charset="-120"/>
              </a:rPr>
              <a:t>1</a:t>
            </a:r>
            <a:endParaRPr lang="en-US" sz="2600" dirty="0"/>
          </a:p>
        </p:txBody>
      </p:sp>
      <p:sp>
        <p:nvSpPr>
          <p:cNvPr id="8" name="Text 6"/>
          <p:cNvSpPr txBox="1"/>
          <p:nvPr/>
        </p:nvSpPr>
        <p:spPr>
          <a:xfrm>
            <a:off x="822960" y="3337560"/>
            <a:ext cx="2990088" cy="640080"/>
          </a:xfrm>
          <a:prstGeom prst="rect">
            <a:avLst/>
          </a:prstGeom>
          <a:noFill/>
          <a:ln/>
        </p:spPr>
        <p:txBody>
          <a:bodyPr wrap="square" lIns="0" tIns="0" rIns="0" bIns="0" rtlCol="0" anchor="ctr"/>
          <a:lstStyle/>
          <a:p>
            <a:pPr indent="0" marL="0">
              <a:buNone/>
            </a:pPr>
            <a:r>
              <a:rPr lang="en-US" sz="3000" b="1" dirty="0">
                <a:solidFill>
                  <a:srgbClr val="D8264A"/>
                </a:solidFill>
                <a:latin typeface="Century Schoolbook" pitchFamily="34" charset="0"/>
                <a:ea typeface="Century Schoolbook" pitchFamily="34" charset="-122"/>
                <a:cs typeface="Century Schoolbook" pitchFamily="34" charset="-120"/>
              </a:rPr>
              <a:t>~8 TWh</a:t>
            </a:r>
            <a:endParaRPr lang="en-US" sz="3000" dirty="0"/>
          </a:p>
        </p:txBody>
      </p:sp>
      <p:sp>
        <p:nvSpPr>
          <p:cNvPr id="9" name="Text 7"/>
          <p:cNvSpPr txBox="1"/>
          <p:nvPr/>
        </p:nvSpPr>
        <p:spPr>
          <a:xfrm>
            <a:off x="822960" y="3931920"/>
            <a:ext cx="2990088" cy="457200"/>
          </a:xfrm>
          <a:prstGeom prst="rect">
            <a:avLst/>
          </a:prstGeom>
          <a:noFill/>
          <a:ln/>
        </p:spPr>
        <p:txBody>
          <a:bodyPr wrap="square" lIns="0" tIns="0" rIns="0" bIns="0" rtlCol="0" anchor="ctr"/>
          <a:lstStyle/>
          <a:p>
            <a:pPr indent="0" marL="0">
              <a:buNone/>
            </a:pPr>
            <a:r>
              <a:rPr lang="en-US" sz="1050" b="1" spc="100" kern="0" dirty="0">
                <a:solidFill>
                  <a:srgbClr val="0B1220"/>
                </a:solidFill>
                <a:latin typeface="Courier New" pitchFamily="34" charset="0"/>
                <a:ea typeface="Courier New" pitchFamily="34" charset="-122"/>
                <a:cs typeface="Courier New" pitchFamily="34" charset="-120"/>
              </a:rPr>
              <a:t>CURTAILED CLEAN POWER (U.S., 2023)</a:t>
            </a:r>
            <a:endParaRPr lang="en-US" sz="1050" dirty="0"/>
          </a:p>
        </p:txBody>
      </p:sp>
      <p:sp>
        <p:nvSpPr>
          <p:cNvPr id="10" name="Text 8"/>
          <p:cNvSpPr txBox="1"/>
          <p:nvPr/>
        </p:nvSpPr>
        <p:spPr>
          <a:xfrm>
            <a:off x="822960" y="4389120"/>
            <a:ext cx="2990088" cy="77724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Enough to power ~740,000 homes for a year — wasted to grid congestion and demand-supply mismatch.</a:t>
            </a:r>
            <a:endParaRPr lang="en-US" sz="1100" dirty="0"/>
          </a:p>
        </p:txBody>
      </p:sp>
      <p:sp>
        <p:nvSpPr>
          <p:cNvPr id="11" name="Shape 9"/>
          <p:cNvSpPr/>
          <p:nvPr/>
        </p:nvSpPr>
        <p:spPr>
          <a:xfrm>
            <a:off x="4343400" y="1965960"/>
            <a:ext cx="3538728" cy="3246120"/>
          </a:xfrm>
          <a:prstGeom prst="roundRect">
            <a:avLst>
              <a:gd name="adj" fmla="val 1972"/>
            </a:avLst>
          </a:prstGeom>
          <a:solidFill>
            <a:srgbClr val="F4F7FB"/>
          </a:solidFill>
          <a:ln w="15875">
            <a:solidFill>
              <a:srgbClr val="C98A00"/>
            </a:solidFill>
            <a:prstDash val="solid"/>
          </a:ln>
          <a:effectLst>
            <a:outerShdw sx="100000" sy="100000" kx="0" ky="0" algn="bl" rotWithShape="0" blurRad="101600" dist="25400" dir="5400000">
              <a:srgbClr val="6B7A99">
                <a:alpha val="18000"/>
              </a:srgbClr>
            </a:outerShdw>
          </a:effectLst>
        </p:spPr>
      </p:sp>
      <p:sp>
        <p:nvSpPr>
          <p:cNvPr id="12" name="Shape 10"/>
          <p:cNvSpPr/>
          <p:nvPr/>
        </p:nvSpPr>
        <p:spPr>
          <a:xfrm>
            <a:off x="4617720" y="2286000"/>
            <a:ext cx="914400" cy="914400"/>
          </a:xfrm>
          <a:prstGeom prst="ellipse">
            <a:avLst/>
          </a:prstGeom>
          <a:solidFill>
            <a:srgbClr val="FFFFFF"/>
          </a:solidFill>
          <a:ln w="19050">
            <a:solidFill>
              <a:srgbClr val="C98A00"/>
            </a:solidFill>
            <a:prstDash val="solid"/>
          </a:ln>
        </p:spPr>
      </p:sp>
      <p:sp>
        <p:nvSpPr>
          <p:cNvPr id="13" name="Text 11"/>
          <p:cNvSpPr txBox="1"/>
          <p:nvPr/>
        </p:nvSpPr>
        <p:spPr>
          <a:xfrm>
            <a:off x="4617720" y="2286000"/>
            <a:ext cx="914400" cy="914400"/>
          </a:xfrm>
          <a:prstGeom prst="rect">
            <a:avLst/>
          </a:prstGeom>
          <a:noFill/>
          <a:ln/>
        </p:spPr>
        <p:txBody>
          <a:bodyPr wrap="square" lIns="0" tIns="0" rIns="0" bIns="0" rtlCol="0" anchor="ctr"/>
          <a:lstStyle/>
          <a:p>
            <a:pPr algn="ctr" indent="0" marL="0">
              <a:buNone/>
            </a:pPr>
            <a:r>
              <a:rPr lang="en-US" sz="2600" b="1" dirty="0">
                <a:solidFill>
                  <a:srgbClr val="C98A00"/>
                </a:solidFill>
                <a:latin typeface="Courier New" pitchFamily="34" charset="0"/>
                <a:ea typeface="Courier New" pitchFamily="34" charset="-122"/>
                <a:cs typeface="Courier New" pitchFamily="34" charset="-120"/>
              </a:rPr>
              <a:t>2</a:t>
            </a:r>
            <a:endParaRPr lang="en-US" sz="2600" dirty="0"/>
          </a:p>
        </p:txBody>
      </p:sp>
      <p:sp>
        <p:nvSpPr>
          <p:cNvPr id="14" name="Text 12"/>
          <p:cNvSpPr txBox="1"/>
          <p:nvPr/>
        </p:nvSpPr>
        <p:spPr>
          <a:xfrm>
            <a:off x="4617720" y="3337560"/>
            <a:ext cx="2990088" cy="640080"/>
          </a:xfrm>
          <a:prstGeom prst="rect">
            <a:avLst/>
          </a:prstGeom>
          <a:noFill/>
          <a:ln/>
        </p:spPr>
        <p:txBody>
          <a:bodyPr wrap="square" lIns="0" tIns="0" rIns="0" bIns="0" rtlCol="0" anchor="ctr"/>
          <a:lstStyle/>
          <a:p>
            <a:pPr indent="0" marL="0">
              <a:buNone/>
            </a:pPr>
            <a:r>
              <a:rPr lang="en-US" sz="3000" b="1" dirty="0">
                <a:solidFill>
                  <a:srgbClr val="C98A00"/>
                </a:solidFill>
                <a:latin typeface="Century Schoolbook" pitchFamily="34" charset="0"/>
                <a:ea typeface="Century Schoolbook" pitchFamily="34" charset="-122"/>
                <a:cs typeface="Century Schoolbook" pitchFamily="34" charset="-120"/>
              </a:rPr>
              <a:t>0</a:t>
            </a:r>
            <a:endParaRPr lang="en-US" sz="3000" dirty="0"/>
          </a:p>
        </p:txBody>
      </p:sp>
      <p:sp>
        <p:nvSpPr>
          <p:cNvPr id="15" name="Text 13"/>
          <p:cNvSpPr txBox="1"/>
          <p:nvPr/>
        </p:nvSpPr>
        <p:spPr>
          <a:xfrm>
            <a:off x="4617720" y="3931920"/>
            <a:ext cx="2990088" cy="457200"/>
          </a:xfrm>
          <a:prstGeom prst="rect">
            <a:avLst/>
          </a:prstGeom>
          <a:noFill/>
          <a:ln/>
        </p:spPr>
        <p:txBody>
          <a:bodyPr wrap="square" lIns="0" tIns="0" rIns="0" bIns="0" rtlCol="0" anchor="ctr"/>
          <a:lstStyle/>
          <a:p>
            <a:pPr indent="0" marL="0">
              <a:buNone/>
            </a:pPr>
            <a:r>
              <a:rPr lang="en-US" sz="1050" b="1" spc="100" kern="0" dirty="0">
                <a:solidFill>
                  <a:srgbClr val="0B1220"/>
                </a:solidFill>
                <a:latin typeface="Courier New" pitchFamily="34" charset="0"/>
                <a:ea typeface="Courier New" pitchFamily="34" charset="-122"/>
                <a:cs typeface="Courier New" pitchFamily="34" charset="-120"/>
              </a:rPr>
              <a:t>REAL-TIME DECISION SUPPORT</a:t>
            </a:r>
            <a:endParaRPr lang="en-US" sz="1050" dirty="0"/>
          </a:p>
        </p:txBody>
      </p:sp>
      <p:sp>
        <p:nvSpPr>
          <p:cNvPr id="16" name="Text 14"/>
          <p:cNvSpPr txBox="1"/>
          <p:nvPr/>
        </p:nvSpPr>
        <p:spPr>
          <a:xfrm>
            <a:off x="4617720" y="4389120"/>
            <a:ext cx="2990088" cy="77724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Operators juggle sudden load spikes, solar/wind intermittency, and undetected asset degradation with no unified guidance.</a:t>
            </a:r>
            <a:endParaRPr lang="en-US" sz="1100" dirty="0"/>
          </a:p>
        </p:txBody>
      </p:sp>
      <p:sp>
        <p:nvSpPr>
          <p:cNvPr id="17" name="Shape 15"/>
          <p:cNvSpPr/>
          <p:nvPr/>
        </p:nvSpPr>
        <p:spPr>
          <a:xfrm>
            <a:off x="8138160" y="1965960"/>
            <a:ext cx="3538728" cy="3246120"/>
          </a:xfrm>
          <a:prstGeom prst="roundRect">
            <a:avLst>
              <a:gd name="adj" fmla="val 1972"/>
            </a:avLst>
          </a:prstGeom>
          <a:solidFill>
            <a:srgbClr val="F4F7FB"/>
          </a:solidFill>
          <a:ln w="15875">
            <a:solidFill>
              <a:srgbClr val="7C3AED"/>
            </a:solidFill>
            <a:prstDash val="solid"/>
          </a:ln>
          <a:effectLst>
            <a:outerShdw sx="100000" sy="100000" kx="0" ky="0" algn="bl" rotWithShape="0" blurRad="101600" dist="25400" dir="5400000">
              <a:srgbClr val="6B7A99">
                <a:alpha val="18000"/>
              </a:srgbClr>
            </a:outerShdw>
          </a:effectLst>
        </p:spPr>
      </p:sp>
      <p:sp>
        <p:nvSpPr>
          <p:cNvPr id="18" name="Shape 16"/>
          <p:cNvSpPr/>
          <p:nvPr/>
        </p:nvSpPr>
        <p:spPr>
          <a:xfrm>
            <a:off x="8412480" y="2286000"/>
            <a:ext cx="914400" cy="914400"/>
          </a:xfrm>
          <a:prstGeom prst="ellipse">
            <a:avLst/>
          </a:prstGeom>
          <a:solidFill>
            <a:srgbClr val="FFFFFF"/>
          </a:solidFill>
          <a:ln w="19050">
            <a:solidFill>
              <a:srgbClr val="7C3AED"/>
            </a:solidFill>
            <a:prstDash val="solid"/>
          </a:ln>
        </p:spPr>
      </p:sp>
      <p:sp>
        <p:nvSpPr>
          <p:cNvPr id="19" name="Text 17"/>
          <p:cNvSpPr txBox="1"/>
          <p:nvPr/>
        </p:nvSpPr>
        <p:spPr>
          <a:xfrm>
            <a:off x="8412480" y="2286000"/>
            <a:ext cx="914400" cy="914400"/>
          </a:xfrm>
          <a:prstGeom prst="rect">
            <a:avLst/>
          </a:prstGeom>
          <a:noFill/>
          <a:ln/>
        </p:spPr>
        <p:txBody>
          <a:bodyPr wrap="square" lIns="0" tIns="0" rIns="0" bIns="0" rtlCol="0" anchor="ctr"/>
          <a:lstStyle/>
          <a:p>
            <a:pPr algn="ctr" indent="0" marL="0">
              <a:buNone/>
            </a:pPr>
            <a:r>
              <a:rPr lang="en-US" sz="2600" b="1" dirty="0">
                <a:solidFill>
                  <a:srgbClr val="7C3AED"/>
                </a:solidFill>
                <a:latin typeface="Courier New" pitchFamily="34" charset="0"/>
                <a:ea typeface="Courier New" pitchFamily="34" charset="-122"/>
                <a:cs typeface="Courier New" pitchFamily="34" charset="-120"/>
              </a:rPr>
              <a:t>3</a:t>
            </a:r>
            <a:endParaRPr lang="en-US" sz="2600" dirty="0"/>
          </a:p>
        </p:txBody>
      </p:sp>
      <p:sp>
        <p:nvSpPr>
          <p:cNvPr id="20" name="Text 18"/>
          <p:cNvSpPr txBox="1"/>
          <p:nvPr/>
        </p:nvSpPr>
        <p:spPr>
          <a:xfrm>
            <a:off x="8412480" y="3337560"/>
            <a:ext cx="2990088" cy="640080"/>
          </a:xfrm>
          <a:prstGeom prst="rect">
            <a:avLst/>
          </a:prstGeom>
          <a:noFill/>
          <a:ln/>
        </p:spPr>
        <p:txBody>
          <a:bodyPr wrap="square" lIns="0" tIns="0" rIns="0" bIns="0" rtlCol="0" anchor="ctr"/>
          <a:lstStyle/>
          <a:p>
            <a:pPr indent="0" marL="0">
              <a:buNone/>
            </a:pPr>
            <a:r>
              <a:rPr lang="en-US" sz="3000" b="1" dirty="0">
                <a:solidFill>
                  <a:srgbClr val="7C3AED"/>
                </a:solidFill>
                <a:latin typeface="Century Schoolbook" pitchFamily="34" charset="0"/>
                <a:ea typeface="Century Schoolbook" pitchFamily="34" charset="-122"/>
                <a:cs typeface="Century Schoolbook" pitchFamily="34" charset="-120"/>
              </a:rPr>
              <a:t>$$$</a:t>
            </a:r>
            <a:endParaRPr lang="en-US" sz="3000" dirty="0"/>
          </a:p>
        </p:txBody>
      </p:sp>
      <p:sp>
        <p:nvSpPr>
          <p:cNvPr id="21" name="Text 19"/>
          <p:cNvSpPr txBox="1"/>
          <p:nvPr/>
        </p:nvSpPr>
        <p:spPr>
          <a:xfrm>
            <a:off x="8412480" y="3931920"/>
            <a:ext cx="2990088" cy="457200"/>
          </a:xfrm>
          <a:prstGeom prst="rect">
            <a:avLst/>
          </a:prstGeom>
          <a:noFill/>
          <a:ln/>
        </p:spPr>
        <p:txBody>
          <a:bodyPr wrap="square" lIns="0" tIns="0" rIns="0" bIns="0" rtlCol="0" anchor="ctr"/>
          <a:lstStyle/>
          <a:p>
            <a:pPr indent="0" marL="0">
              <a:buNone/>
            </a:pPr>
            <a:r>
              <a:rPr lang="en-US" sz="1050" b="1" spc="100" kern="0" dirty="0">
                <a:solidFill>
                  <a:srgbClr val="0B1220"/>
                </a:solidFill>
                <a:latin typeface="Courier New" pitchFamily="34" charset="0"/>
                <a:ea typeface="Courier New" pitchFamily="34" charset="-122"/>
                <a:cs typeface="Courier New" pitchFamily="34" charset="-120"/>
              </a:rPr>
              <a:t>THE COST OF INACTION</a:t>
            </a:r>
            <a:endParaRPr lang="en-US" sz="1050" dirty="0"/>
          </a:p>
        </p:txBody>
      </p:sp>
      <p:sp>
        <p:nvSpPr>
          <p:cNvPr id="22" name="Text 20"/>
          <p:cNvSpPr txBox="1"/>
          <p:nvPr/>
        </p:nvSpPr>
        <p:spPr>
          <a:xfrm>
            <a:off x="8412480" y="4389120"/>
            <a:ext cx="2990088" cy="77724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Carbon-heavy peaking plants fire up unnecessarily, equipment burns out silently, and clean capacity goes to waste.</a:t>
            </a:r>
            <a:endParaRPr lang="en-US" sz="1100" dirty="0"/>
          </a:p>
        </p:txBody>
      </p:sp>
      <p:sp>
        <p:nvSpPr>
          <p:cNvPr id="23" name="Shape 21"/>
          <p:cNvSpPr/>
          <p:nvPr/>
        </p:nvSpPr>
        <p:spPr>
          <a:xfrm>
            <a:off x="548640" y="5486400"/>
            <a:ext cx="11064240" cy="566928"/>
          </a:xfrm>
          <a:prstGeom prst="roundRect">
            <a:avLst>
              <a:gd name="adj" fmla="val 9677"/>
            </a:avLst>
          </a:prstGeom>
          <a:solidFill>
            <a:srgbClr val="E9F7EF"/>
          </a:solidFill>
          <a:ln w="12700">
            <a:solidFill>
              <a:srgbClr val="108A56"/>
            </a:solidFill>
            <a:prstDash val="solid"/>
          </a:ln>
        </p:spPr>
      </p:sp>
      <p:sp>
        <p:nvSpPr>
          <p:cNvPr id="24" name="Text 22"/>
          <p:cNvSpPr txBox="1"/>
          <p:nvPr/>
        </p:nvSpPr>
        <p:spPr>
          <a:xfrm>
            <a:off x="777240" y="5486400"/>
            <a:ext cx="10607040" cy="566928"/>
          </a:xfrm>
          <a:prstGeom prst="rect">
            <a:avLst/>
          </a:prstGeom>
          <a:noFill/>
          <a:ln/>
        </p:spPr>
        <p:txBody>
          <a:bodyPr wrap="square" lIns="0" tIns="0" rIns="0" bIns="0" rtlCol="0" anchor="ctr"/>
          <a:lstStyle/>
          <a:p>
            <a:pPr algn="l" indent="0" marL="0">
              <a:buNone/>
            </a:pPr>
            <a:r>
              <a:rPr lang="en-US" sz="1300" b="1" dirty="0">
                <a:solidFill>
                  <a:srgbClr val="108A56"/>
                </a:solidFill>
                <a:latin typeface="Calibri" pitchFamily="34" charset="0"/>
                <a:ea typeface="Calibri" pitchFamily="34" charset="-122"/>
                <a:cs typeface="Calibri" pitchFamily="34" charset="-120"/>
              </a:rPr>
              <a:t>Operators are flying blind — reacting to problems that AI could have predicted hours in advance.</a:t>
            </a:r>
            <a:endParaRPr lang="en-US" sz="1300" dirty="0"/>
          </a:p>
        </p:txBody>
      </p:sp>
      <p:sp>
        <p:nvSpPr>
          <p:cNvPr id="25" name="Text 23"/>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5B6478"/>
                </a:solidFill>
                <a:latin typeface="Calibri" pitchFamily="34" charset="0"/>
                <a:ea typeface="Calibri" pitchFamily="34" charset="-122"/>
                <a:cs typeface="Calibri" pitchFamily="34" charset="-120"/>
              </a:rPr>
              <a:t>GRIDWISE AI  ·  TEAM OUTLIERS</a:t>
            </a:r>
            <a:endParaRPr lang="en-US" sz="900" dirty="0"/>
          </a:p>
        </p:txBody>
      </p:sp>
      <p:sp>
        <p:nvSpPr>
          <p:cNvPr id="26" name="Text 24"/>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ourier New" pitchFamily="34" charset="0"/>
                <a:ea typeface="Courier New" pitchFamily="34" charset="-122"/>
                <a:cs typeface="Courier New" pitchFamily="34" charset="-120"/>
              </a:rPr>
              <a:t>02 / 08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100" b="1" spc="200" kern="0" dirty="0">
                <a:solidFill>
                  <a:srgbClr val="007A72"/>
                </a:solidFill>
                <a:latin typeface="Courier New" pitchFamily="34" charset="0"/>
                <a:ea typeface="Courier New" pitchFamily="34" charset="-122"/>
                <a:cs typeface="Courier New" pitchFamily="34" charset="-120"/>
              </a:rPr>
              <a:t>THE SOLUTION</a:t>
            </a:r>
            <a:endParaRPr lang="en-US" sz="1100" dirty="0"/>
          </a:p>
        </p:txBody>
      </p:sp>
      <p:sp>
        <p:nvSpPr>
          <p:cNvPr id="3" name="Text 1"/>
          <p:cNvSpPr txBox="1"/>
          <p:nvPr/>
        </p:nvSpPr>
        <p:spPr>
          <a:xfrm>
            <a:off x="548640" y="749808"/>
            <a:ext cx="10515600" cy="640080"/>
          </a:xfrm>
          <a:prstGeom prst="rect">
            <a:avLst/>
          </a:prstGeom>
          <a:noFill/>
          <a:ln/>
        </p:spPr>
        <p:txBody>
          <a:bodyPr wrap="square" lIns="0" tIns="0" rIns="0" bIns="0" rtlCol="0" anchor="ctr"/>
          <a:lstStyle/>
          <a:p>
            <a:pPr indent="0" marL="0">
              <a:buNone/>
            </a:pPr>
            <a:r>
              <a:rPr lang="en-US" sz="3200" b="1" dirty="0">
                <a:solidFill>
                  <a:srgbClr val="0B1220"/>
                </a:solidFill>
                <a:latin typeface="Century Schoolbook" pitchFamily="34" charset="0"/>
                <a:ea typeface="Century Schoolbook" pitchFamily="34" charset="-122"/>
                <a:cs typeface="Century Schoolbook" pitchFamily="34" charset="-120"/>
              </a:rPr>
              <a:t>The GridWise AI Platform</a:t>
            </a:r>
            <a:endParaRPr lang="en-US" sz="32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indent="0" marL="0">
              <a:buNone/>
            </a:pPr>
            <a:r>
              <a:rPr lang="en-US" sz="1500" i="1" dirty="0">
                <a:solidFill>
                  <a:srgbClr val="5B6478"/>
                </a:solidFill>
                <a:latin typeface="Calibri" pitchFamily="34" charset="0"/>
                <a:ea typeface="Calibri" pitchFamily="34" charset="-122"/>
                <a:cs typeface="Calibri" pitchFamily="34" charset="-120"/>
              </a:rPr>
              <a:t>One closed-loop intelligence platform. Four pillars.</a:t>
            </a:r>
            <a:endParaRPr lang="en-US" sz="1500" dirty="0"/>
          </a:p>
        </p:txBody>
      </p:sp>
      <p:sp>
        <p:nvSpPr>
          <p:cNvPr id="5" name="Shape 3"/>
          <p:cNvSpPr/>
          <p:nvPr/>
        </p:nvSpPr>
        <p:spPr>
          <a:xfrm>
            <a:off x="3108960" y="2948940"/>
            <a:ext cx="1828800" cy="0"/>
          </a:xfrm>
          <a:prstGeom prst="line">
            <a:avLst/>
          </a:prstGeom>
          <a:noFill/>
          <a:ln w="15875">
            <a:solidFill>
              <a:srgbClr val="00A99D">
                <a:alpha val="80000"/>
              </a:srgbClr>
            </a:solidFill>
            <a:prstDash val="dash"/>
          </a:ln>
        </p:spPr>
      </p:sp>
      <p:sp>
        <p:nvSpPr>
          <p:cNvPr id="6" name="Shape 4"/>
          <p:cNvSpPr/>
          <p:nvPr/>
        </p:nvSpPr>
        <p:spPr>
          <a:xfrm>
            <a:off x="4937760" y="2948940"/>
            <a:ext cx="0" cy="640080"/>
          </a:xfrm>
          <a:prstGeom prst="line">
            <a:avLst/>
          </a:prstGeom>
          <a:noFill/>
          <a:ln w="15875">
            <a:solidFill>
              <a:srgbClr val="00A99D">
                <a:alpha val="80000"/>
              </a:srgbClr>
            </a:solidFill>
            <a:prstDash val="dash"/>
          </a:ln>
        </p:spPr>
      </p:sp>
      <p:sp>
        <p:nvSpPr>
          <p:cNvPr id="7" name="Shape 5"/>
          <p:cNvSpPr/>
          <p:nvPr/>
        </p:nvSpPr>
        <p:spPr>
          <a:xfrm>
            <a:off x="7223760" y="2948940"/>
            <a:ext cx="1874520" cy="0"/>
          </a:xfrm>
          <a:prstGeom prst="line">
            <a:avLst/>
          </a:prstGeom>
          <a:noFill/>
          <a:ln w="15875">
            <a:solidFill>
              <a:srgbClr val="C98A00">
                <a:alpha val="80000"/>
              </a:srgbClr>
            </a:solidFill>
            <a:prstDash val="dash"/>
          </a:ln>
        </p:spPr>
      </p:sp>
      <p:sp>
        <p:nvSpPr>
          <p:cNvPr id="8" name="Shape 6"/>
          <p:cNvSpPr/>
          <p:nvPr/>
        </p:nvSpPr>
        <p:spPr>
          <a:xfrm>
            <a:off x="7223760" y="2948940"/>
            <a:ext cx="0" cy="640080"/>
          </a:xfrm>
          <a:prstGeom prst="line">
            <a:avLst/>
          </a:prstGeom>
          <a:noFill/>
          <a:ln w="15875">
            <a:solidFill>
              <a:srgbClr val="C98A00">
                <a:alpha val="80000"/>
              </a:srgbClr>
            </a:solidFill>
            <a:prstDash val="dash"/>
          </a:ln>
        </p:spPr>
      </p:sp>
      <p:sp>
        <p:nvSpPr>
          <p:cNvPr id="9" name="Shape 7"/>
          <p:cNvSpPr/>
          <p:nvPr/>
        </p:nvSpPr>
        <p:spPr>
          <a:xfrm>
            <a:off x="3108960" y="5417820"/>
            <a:ext cx="1828800" cy="0"/>
          </a:xfrm>
          <a:prstGeom prst="line">
            <a:avLst/>
          </a:prstGeom>
          <a:noFill/>
          <a:ln w="15875">
            <a:solidFill>
              <a:srgbClr val="7C3AED">
                <a:alpha val="80000"/>
              </a:srgbClr>
            </a:solidFill>
            <a:prstDash val="dash"/>
          </a:ln>
        </p:spPr>
      </p:sp>
      <p:sp>
        <p:nvSpPr>
          <p:cNvPr id="10" name="Shape 8"/>
          <p:cNvSpPr/>
          <p:nvPr/>
        </p:nvSpPr>
        <p:spPr>
          <a:xfrm>
            <a:off x="4937760" y="3589020"/>
            <a:ext cx="0" cy="1828800"/>
          </a:xfrm>
          <a:prstGeom prst="line">
            <a:avLst/>
          </a:prstGeom>
          <a:noFill/>
          <a:ln w="15875">
            <a:solidFill>
              <a:srgbClr val="7C3AED">
                <a:alpha val="80000"/>
              </a:srgbClr>
            </a:solidFill>
            <a:prstDash val="dash"/>
          </a:ln>
        </p:spPr>
      </p:sp>
      <p:sp>
        <p:nvSpPr>
          <p:cNvPr id="11" name="Shape 9"/>
          <p:cNvSpPr/>
          <p:nvPr/>
        </p:nvSpPr>
        <p:spPr>
          <a:xfrm>
            <a:off x="7223760" y="5417820"/>
            <a:ext cx="1874520" cy="0"/>
          </a:xfrm>
          <a:prstGeom prst="line">
            <a:avLst/>
          </a:prstGeom>
          <a:noFill/>
          <a:ln w="15875">
            <a:solidFill>
              <a:srgbClr val="108A56">
                <a:alpha val="80000"/>
              </a:srgbClr>
            </a:solidFill>
            <a:prstDash val="dash"/>
          </a:ln>
        </p:spPr>
      </p:sp>
      <p:sp>
        <p:nvSpPr>
          <p:cNvPr id="12" name="Shape 10"/>
          <p:cNvSpPr/>
          <p:nvPr/>
        </p:nvSpPr>
        <p:spPr>
          <a:xfrm>
            <a:off x="7223760" y="3589020"/>
            <a:ext cx="0" cy="1828800"/>
          </a:xfrm>
          <a:prstGeom prst="line">
            <a:avLst/>
          </a:prstGeom>
          <a:noFill/>
          <a:ln w="15875">
            <a:solidFill>
              <a:srgbClr val="108A56">
                <a:alpha val="80000"/>
              </a:srgbClr>
            </a:solidFill>
            <a:prstDash val="dash"/>
          </a:ln>
        </p:spPr>
      </p:sp>
      <p:sp>
        <p:nvSpPr>
          <p:cNvPr id="13" name="Shape 11"/>
          <p:cNvSpPr/>
          <p:nvPr/>
        </p:nvSpPr>
        <p:spPr>
          <a:xfrm>
            <a:off x="4937760" y="2880360"/>
            <a:ext cx="2286000" cy="1417320"/>
          </a:xfrm>
          <a:prstGeom prst="roundRect">
            <a:avLst>
              <a:gd name="adj" fmla="val 6452"/>
            </a:avLst>
          </a:prstGeom>
          <a:solidFill>
            <a:srgbClr val="0B1F3A"/>
          </a:solidFill>
          <a:ln w="19050">
            <a:solidFill>
              <a:srgbClr val="00A99D"/>
            </a:solidFill>
            <a:prstDash val="solid"/>
          </a:ln>
          <a:effectLst>
            <a:outerShdw sx="100000" sy="100000" kx="0" ky="0" algn="bl" rotWithShape="0" blurRad="152400" dist="50800" dir="16200000">
              <a:srgbClr val="00A99D">
                <a:alpha val="30000"/>
              </a:srgbClr>
            </a:outerShdw>
          </a:effectLst>
        </p:spPr>
      </p:sp>
      <p:sp>
        <p:nvSpPr>
          <p:cNvPr id="14" name="Text 12"/>
          <p:cNvSpPr txBox="1"/>
          <p:nvPr/>
        </p:nvSpPr>
        <p:spPr>
          <a:xfrm>
            <a:off x="4937760" y="2880360"/>
            <a:ext cx="2286000" cy="1417320"/>
          </a:xfrm>
          <a:prstGeom prst="rect">
            <a:avLst/>
          </a:prstGeom>
          <a:noFill/>
          <a:ln/>
        </p:spPr>
        <p:txBody>
          <a:bodyPr wrap="square" lIns="0" tIns="0" rIns="0" bIns="0" rtlCol="0" anchor="ctr"/>
          <a:lstStyle/>
          <a:p>
            <a:pPr algn="ctr" indent="0" marL="0">
              <a:buNone/>
            </a:pPr>
            <a:r>
              <a:rPr lang="en-US" sz="1500" b="1" spc="100" kern="0" dirty="0">
                <a:solidFill>
                  <a:srgbClr val="00A99D"/>
                </a:solidFill>
                <a:latin typeface="Courier New" pitchFamily="34" charset="0"/>
                <a:ea typeface="Courier New" pitchFamily="34" charset="-122"/>
                <a:cs typeface="Courier New" pitchFamily="34" charset="-120"/>
              </a:rPr>
              <a:t>GRIDWISE AI
</a:t>
            </a:r>
            <a:endParaRPr lang="en-US" sz="1500" dirty="0"/>
          </a:p>
          <a:p>
            <a:pPr algn="ctr" indent="0" marL="0">
              <a:buNone/>
            </a:pPr>
            <a:r>
              <a:rPr lang="en-US" sz="900" spc="100" kern="0" dirty="0">
                <a:solidFill>
                  <a:srgbClr val="AEB8CC"/>
                </a:solidFill>
                <a:latin typeface="Courier New" pitchFamily="34" charset="0"/>
                <a:ea typeface="Courier New" pitchFamily="34" charset="-122"/>
                <a:cs typeface="Courier New" pitchFamily="34" charset="-120"/>
              </a:rPr>
              <a:t>CORE ENGINE</a:t>
            </a:r>
            <a:endParaRPr lang="en-US" sz="1500" dirty="0"/>
          </a:p>
        </p:txBody>
      </p:sp>
      <p:sp>
        <p:nvSpPr>
          <p:cNvPr id="15" name="Shape 13"/>
          <p:cNvSpPr/>
          <p:nvPr/>
        </p:nvSpPr>
        <p:spPr>
          <a:xfrm>
            <a:off x="594360" y="1965960"/>
            <a:ext cx="2514600" cy="1965960"/>
          </a:xfrm>
          <a:prstGeom prst="roundRect">
            <a:avLst>
              <a:gd name="adj" fmla="val 3256"/>
            </a:avLst>
          </a:prstGeom>
          <a:solidFill>
            <a:srgbClr val="F4F7FB"/>
          </a:solidFill>
          <a:ln w="15875">
            <a:solidFill>
              <a:srgbClr val="00A99D"/>
            </a:solidFill>
            <a:prstDash val="solid"/>
          </a:ln>
          <a:effectLst>
            <a:outerShdw sx="100000" sy="100000" kx="0" ky="0" algn="bl" rotWithShape="0" blurRad="76200" dist="25400" dir="5400000">
              <a:srgbClr val="6B7A99">
                <a:alpha val="15000"/>
              </a:srgbClr>
            </a:outerShdw>
          </a:effectLst>
        </p:spPr>
      </p:sp>
      <p:sp>
        <p:nvSpPr>
          <p:cNvPr id="16" name="Text 14"/>
          <p:cNvSpPr txBox="1"/>
          <p:nvPr/>
        </p:nvSpPr>
        <p:spPr>
          <a:xfrm>
            <a:off x="777240" y="2103120"/>
            <a:ext cx="914400" cy="365760"/>
          </a:xfrm>
          <a:prstGeom prst="rect">
            <a:avLst/>
          </a:prstGeom>
          <a:noFill/>
          <a:ln/>
        </p:spPr>
        <p:txBody>
          <a:bodyPr wrap="square" lIns="0" tIns="0" rIns="0" bIns="0" rtlCol="0" anchor="ctr"/>
          <a:lstStyle/>
          <a:p>
            <a:pPr indent="0" marL="0">
              <a:buNone/>
            </a:pPr>
            <a:r>
              <a:rPr lang="en-US" sz="1200" b="1" dirty="0">
                <a:solidFill>
                  <a:srgbClr val="00A99D"/>
                </a:solidFill>
                <a:latin typeface="Courier New" pitchFamily="34" charset="0"/>
                <a:ea typeface="Courier New" pitchFamily="34" charset="-122"/>
                <a:cs typeface="Courier New" pitchFamily="34" charset="-120"/>
              </a:rPr>
              <a:t>01</a:t>
            </a:r>
            <a:endParaRPr lang="en-US" sz="1200" dirty="0"/>
          </a:p>
        </p:txBody>
      </p:sp>
      <p:sp>
        <p:nvSpPr>
          <p:cNvPr id="17" name="Text 15"/>
          <p:cNvSpPr txBox="1"/>
          <p:nvPr/>
        </p:nvSpPr>
        <p:spPr>
          <a:xfrm>
            <a:off x="777240" y="2468880"/>
            <a:ext cx="2148840" cy="365760"/>
          </a:xfrm>
          <a:prstGeom prst="rect">
            <a:avLst/>
          </a:prstGeom>
          <a:noFill/>
          <a:ln/>
        </p:spPr>
        <p:txBody>
          <a:bodyPr wrap="square" lIns="0" tIns="0" rIns="0" bIns="0" rtlCol="0" anchor="ctr"/>
          <a:lstStyle/>
          <a:p>
            <a:pPr indent="0" marL="0">
              <a:buNone/>
            </a:pPr>
            <a:r>
              <a:rPr lang="en-US" sz="1700" b="1" dirty="0">
                <a:solidFill>
                  <a:srgbClr val="0B1220"/>
                </a:solidFill>
                <a:latin typeface="Century Schoolbook" pitchFamily="34" charset="0"/>
                <a:ea typeface="Century Schoolbook" pitchFamily="34" charset="-122"/>
                <a:cs typeface="Century Schoolbook" pitchFamily="34" charset="-120"/>
              </a:rPr>
              <a:t>PREDICT</a:t>
            </a:r>
            <a:endParaRPr lang="en-US" sz="1700" dirty="0"/>
          </a:p>
        </p:txBody>
      </p:sp>
      <p:sp>
        <p:nvSpPr>
          <p:cNvPr id="18" name="Text 16"/>
          <p:cNvSpPr txBox="1"/>
          <p:nvPr/>
        </p:nvSpPr>
        <p:spPr>
          <a:xfrm>
            <a:off x="777240" y="2898648"/>
            <a:ext cx="2148840" cy="91440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24-hour advance load spike &amp; net demand forecasting via XGBoost.</a:t>
            </a:r>
            <a:endParaRPr lang="en-US" sz="1050" dirty="0"/>
          </a:p>
        </p:txBody>
      </p:sp>
      <p:sp>
        <p:nvSpPr>
          <p:cNvPr id="19" name="Shape 17"/>
          <p:cNvSpPr/>
          <p:nvPr/>
        </p:nvSpPr>
        <p:spPr>
          <a:xfrm>
            <a:off x="9098280" y="1965960"/>
            <a:ext cx="2514600" cy="1965960"/>
          </a:xfrm>
          <a:prstGeom prst="roundRect">
            <a:avLst>
              <a:gd name="adj" fmla="val 3256"/>
            </a:avLst>
          </a:prstGeom>
          <a:solidFill>
            <a:srgbClr val="F4F7FB"/>
          </a:solidFill>
          <a:ln w="15875">
            <a:solidFill>
              <a:srgbClr val="C98A00"/>
            </a:solidFill>
            <a:prstDash val="solid"/>
          </a:ln>
          <a:effectLst>
            <a:outerShdw sx="100000" sy="100000" kx="0" ky="0" algn="bl" rotWithShape="0" blurRad="76200" dist="25400" dir="5400000">
              <a:srgbClr val="6B7A99">
                <a:alpha val="15000"/>
              </a:srgbClr>
            </a:outerShdw>
          </a:effectLst>
        </p:spPr>
      </p:sp>
      <p:sp>
        <p:nvSpPr>
          <p:cNvPr id="20" name="Text 18"/>
          <p:cNvSpPr txBox="1"/>
          <p:nvPr/>
        </p:nvSpPr>
        <p:spPr>
          <a:xfrm>
            <a:off x="9281160" y="2103120"/>
            <a:ext cx="914400" cy="365760"/>
          </a:xfrm>
          <a:prstGeom prst="rect">
            <a:avLst/>
          </a:prstGeom>
          <a:noFill/>
          <a:ln/>
        </p:spPr>
        <p:txBody>
          <a:bodyPr wrap="square" lIns="0" tIns="0" rIns="0" bIns="0" rtlCol="0" anchor="ctr"/>
          <a:lstStyle/>
          <a:p>
            <a:pPr indent="0" marL="0">
              <a:buNone/>
            </a:pPr>
            <a:r>
              <a:rPr lang="en-US" sz="1200" b="1" dirty="0">
                <a:solidFill>
                  <a:srgbClr val="C98A00"/>
                </a:solidFill>
                <a:latin typeface="Courier New" pitchFamily="34" charset="0"/>
                <a:ea typeface="Courier New" pitchFamily="34" charset="-122"/>
                <a:cs typeface="Courier New" pitchFamily="34" charset="-120"/>
              </a:rPr>
              <a:t>02</a:t>
            </a:r>
            <a:endParaRPr lang="en-US" sz="1200" dirty="0"/>
          </a:p>
        </p:txBody>
      </p:sp>
      <p:sp>
        <p:nvSpPr>
          <p:cNvPr id="21" name="Text 19"/>
          <p:cNvSpPr txBox="1"/>
          <p:nvPr/>
        </p:nvSpPr>
        <p:spPr>
          <a:xfrm>
            <a:off x="9281160" y="2468880"/>
            <a:ext cx="2148840" cy="365760"/>
          </a:xfrm>
          <a:prstGeom prst="rect">
            <a:avLst/>
          </a:prstGeom>
          <a:noFill/>
          <a:ln/>
        </p:spPr>
        <p:txBody>
          <a:bodyPr wrap="square" lIns="0" tIns="0" rIns="0" bIns="0" rtlCol="0" anchor="ctr"/>
          <a:lstStyle/>
          <a:p>
            <a:pPr indent="0" marL="0">
              <a:buNone/>
            </a:pPr>
            <a:r>
              <a:rPr lang="en-US" sz="1700" b="1" dirty="0">
                <a:solidFill>
                  <a:srgbClr val="0B1220"/>
                </a:solidFill>
                <a:latin typeface="Century Schoolbook" pitchFamily="34" charset="0"/>
                <a:ea typeface="Century Schoolbook" pitchFamily="34" charset="-122"/>
                <a:cs typeface="Century Schoolbook" pitchFamily="34" charset="-120"/>
              </a:rPr>
              <a:t>DETECT</a:t>
            </a:r>
            <a:endParaRPr lang="en-US" sz="1700" dirty="0"/>
          </a:p>
        </p:txBody>
      </p:sp>
      <p:sp>
        <p:nvSpPr>
          <p:cNvPr id="22" name="Text 20"/>
          <p:cNvSpPr txBox="1"/>
          <p:nvPr/>
        </p:nvSpPr>
        <p:spPr>
          <a:xfrm>
            <a:off x="9281160" y="2898648"/>
            <a:ext cx="2148840" cy="91440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Real-time solar/wind anomaly detection vs. physics-grounded expected output.</a:t>
            </a:r>
            <a:endParaRPr lang="en-US" sz="1050" dirty="0"/>
          </a:p>
        </p:txBody>
      </p:sp>
      <p:sp>
        <p:nvSpPr>
          <p:cNvPr id="23" name="Shape 21"/>
          <p:cNvSpPr/>
          <p:nvPr/>
        </p:nvSpPr>
        <p:spPr>
          <a:xfrm>
            <a:off x="594360" y="4434840"/>
            <a:ext cx="2514600" cy="1965960"/>
          </a:xfrm>
          <a:prstGeom prst="roundRect">
            <a:avLst>
              <a:gd name="adj" fmla="val 3256"/>
            </a:avLst>
          </a:prstGeom>
          <a:solidFill>
            <a:srgbClr val="F4F7FB"/>
          </a:solidFill>
          <a:ln w="15875">
            <a:solidFill>
              <a:srgbClr val="7C3AED"/>
            </a:solidFill>
            <a:prstDash val="solid"/>
          </a:ln>
          <a:effectLst>
            <a:outerShdw sx="100000" sy="100000" kx="0" ky="0" algn="bl" rotWithShape="0" blurRad="76200" dist="25400" dir="5400000">
              <a:srgbClr val="6B7A99">
                <a:alpha val="15000"/>
              </a:srgbClr>
            </a:outerShdw>
          </a:effectLst>
        </p:spPr>
      </p:sp>
      <p:sp>
        <p:nvSpPr>
          <p:cNvPr id="24" name="Text 22"/>
          <p:cNvSpPr txBox="1"/>
          <p:nvPr/>
        </p:nvSpPr>
        <p:spPr>
          <a:xfrm>
            <a:off x="777240" y="4572000"/>
            <a:ext cx="914400" cy="36576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03</a:t>
            </a:r>
            <a:endParaRPr lang="en-US" sz="1200" dirty="0"/>
          </a:p>
        </p:txBody>
      </p:sp>
      <p:sp>
        <p:nvSpPr>
          <p:cNvPr id="25" name="Text 23"/>
          <p:cNvSpPr txBox="1"/>
          <p:nvPr/>
        </p:nvSpPr>
        <p:spPr>
          <a:xfrm>
            <a:off x="777240" y="4937760"/>
            <a:ext cx="2148840" cy="365760"/>
          </a:xfrm>
          <a:prstGeom prst="rect">
            <a:avLst/>
          </a:prstGeom>
          <a:noFill/>
          <a:ln/>
        </p:spPr>
        <p:txBody>
          <a:bodyPr wrap="square" lIns="0" tIns="0" rIns="0" bIns="0" rtlCol="0" anchor="ctr"/>
          <a:lstStyle/>
          <a:p>
            <a:pPr indent="0" marL="0">
              <a:buNone/>
            </a:pPr>
            <a:r>
              <a:rPr lang="en-US" sz="1700" b="1" dirty="0">
                <a:solidFill>
                  <a:srgbClr val="0B1220"/>
                </a:solidFill>
                <a:latin typeface="Century Schoolbook" pitchFamily="34" charset="0"/>
                <a:ea typeface="Century Schoolbook" pitchFamily="34" charset="-122"/>
                <a:cs typeface="Century Schoolbook" pitchFamily="34" charset="-120"/>
              </a:rPr>
              <a:t>DIAGNOSE</a:t>
            </a:r>
            <a:endParaRPr lang="en-US" sz="1700" dirty="0"/>
          </a:p>
        </p:txBody>
      </p:sp>
      <p:sp>
        <p:nvSpPr>
          <p:cNvPr id="26" name="Text 24"/>
          <p:cNvSpPr txBox="1"/>
          <p:nvPr/>
        </p:nvSpPr>
        <p:spPr>
          <a:xfrm>
            <a:off x="777240" y="5367528"/>
            <a:ext cx="2148840" cy="91440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Explainable RCA — separates cloud cover from real inverter/soiling faults.</a:t>
            </a:r>
            <a:endParaRPr lang="en-US" sz="1050" dirty="0"/>
          </a:p>
        </p:txBody>
      </p:sp>
      <p:sp>
        <p:nvSpPr>
          <p:cNvPr id="27" name="Shape 25"/>
          <p:cNvSpPr/>
          <p:nvPr/>
        </p:nvSpPr>
        <p:spPr>
          <a:xfrm>
            <a:off x="9098280" y="4434840"/>
            <a:ext cx="2514600" cy="1965960"/>
          </a:xfrm>
          <a:prstGeom prst="roundRect">
            <a:avLst>
              <a:gd name="adj" fmla="val 3256"/>
            </a:avLst>
          </a:prstGeom>
          <a:solidFill>
            <a:srgbClr val="F4F7FB"/>
          </a:solidFill>
          <a:ln w="15875">
            <a:solidFill>
              <a:srgbClr val="108A56"/>
            </a:solidFill>
            <a:prstDash val="solid"/>
          </a:ln>
          <a:effectLst>
            <a:outerShdw sx="100000" sy="100000" kx="0" ky="0" algn="bl" rotWithShape="0" blurRad="76200" dist="25400" dir="5400000">
              <a:srgbClr val="6B7A99">
                <a:alpha val="15000"/>
              </a:srgbClr>
            </a:outerShdw>
          </a:effectLst>
        </p:spPr>
      </p:sp>
      <p:sp>
        <p:nvSpPr>
          <p:cNvPr id="28" name="Text 26"/>
          <p:cNvSpPr txBox="1"/>
          <p:nvPr/>
        </p:nvSpPr>
        <p:spPr>
          <a:xfrm>
            <a:off x="9281160" y="4572000"/>
            <a:ext cx="914400" cy="365760"/>
          </a:xfrm>
          <a:prstGeom prst="rect">
            <a:avLst/>
          </a:prstGeom>
          <a:noFill/>
          <a:ln/>
        </p:spPr>
        <p:txBody>
          <a:bodyPr wrap="square" lIns="0" tIns="0" rIns="0" bIns="0" rtlCol="0" anchor="ctr"/>
          <a:lstStyle/>
          <a:p>
            <a:pPr indent="0" marL="0">
              <a:buNone/>
            </a:pPr>
            <a:r>
              <a:rPr lang="en-US" sz="1200" b="1" dirty="0">
                <a:solidFill>
                  <a:srgbClr val="108A56"/>
                </a:solidFill>
                <a:latin typeface="Courier New" pitchFamily="34" charset="0"/>
                <a:ea typeface="Courier New" pitchFamily="34" charset="-122"/>
                <a:cs typeface="Courier New" pitchFamily="34" charset="-120"/>
              </a:rPr>
              <a:t>04</a:t>
            </a:r>
            <a:endParaRPr lang="en-US" sz="1200" dirty="0"/>
          </a:p>
        </p:txBody>
      </p:sp>
      <p:sp>
        <p:nvSpPr>
          <p:cNvPr id="29" name="Text 27"/>
          <p:cNvSpPr txBox="1"/>
          <p:nvPr/>
        </p:nvSpPr>
        <p:spPr>
          <a:xfrm>
            <a:off x="9281160" y="4937760"/>
            <a:ext cx="2148840" cy="365760"/>
          </a:xfrm>
          <a:prstGeom prst="rect">
            <a:avLst/>
          </a:prstGeom>
          <a:noFill/>
          <a:ln/>
        </p:spPr>
        <p:txBody>
          <a:bodyPr wrap="square" lIns="0" tIns="0" rIns="0" bIns="0" rtlCol="0" anchor="ctr"/>
          <a:lstStyle/>
          <a:p>
            <a:pPr indent="0" marL="0">
              <a:buNone/>
            </a:pPr>
            <a:r>
              <a:rPr lang="en-US" sz="1700" b="1" dirty="0">
                <a:solidFill>
                  <a:srgbClr val="0B1220"/>
                </a:solidFill>
                <a:latin typeface="Century Schoolbook" pitchFamily="34" charset="0"/>
                <a:ea typeface="Century Schoolbook" pitchFamily="34" charset="-122"/>
                <a:cs typeface="Century Schoolbook" pitchFamily="34" charset="-120"/>
              </a:rPr>
              <a:t>BALANCE &amp; ADVISE</a:t>
            </a:r>
            <a:endParaRPr lang="en-US" sz="1700" dirty="0"/>
          </a:p>
        </p:txBody>
      </p:sp>
      <p:sp>
        <p:nvSpPr>
          <p:cNvPr id="30" name="Text 28"/>
          <p:cNvSpPr txBox="1"/>
          <p:nvPr/>
        </p:nvSpPr>
        <p:spPr>
          <a:xfrm>
            <a:off x="9281160" y="5367528"/>
            <a:ext cx="2148840" cy="91440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Automated BESS/DR dispatch + IBM Bob conversational briefing.</a:t>
            </a:r>
            <a:endParaRPr lang="en-US" sz="1050" dirty="0"/>
          </a:p>
        </p:txBody>
      </p:sp>
      <p:sp>
        <p:nvSpPr>
          <p:cNvPr id="31" name="Text 29"/>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5B6478"/>
                </a:solidFill>
                <a:latin typeface="Calibri" pitchFamily="34" charset="0"/>
                <a:ea typeface="Calibri" pitchFamily="34" charset="-122"/>
                <a:cs typeface="Calibri" pitchFamily="34" charset="-120"/>
              </a:rPr>
              <a:t>GRIDWISE AI  ·  TEAM OUTLIERS</a:t>
            </a:r>
            <a:endParaRPr lang="en-US" sz="900" dirty="0"/>
          </a:p>
        </p:txBody>
      </p:sp>
      <p:sp>
        <p:nvSpPr>
          <p:cNvPr id="32" name="Text 30"/>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ourier New" pitchFamily="34" charset="0"/>
                <a:ea typeface="Courier New" pitchFamily="34" charset="-122"/>
                <a:cs typeface="Courier New" pitchFamily="34" charset="-120"/>
              </a:rPr>
              <a:t>03 / 08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100" b="1" spc="200" kern="0" dirty="0">
                <a:solidFill>
                  <a:srgbClr val="007A72"/>
                </a:solidFill>
                <a:latin typeface="Courier New" pitchFamily="34" charset="0"/>
                <a:ea typeface="Courier New" pitchFamily="34" charset="-122"/>
                <a:cs typeface="Courier New" pitchFamily="34" charset="-120"/>
              </a:rPr>
              <a:t>SYSTEM ARCHITECTURE</a:t>
            </a:r>
            <a:endParaRPr lang="en-US" sz="1100" dirty="0"/>
          </a:p>
        </p:txBody>
      </p:sp>
      <p:sp>
        <p:nvSpPr>
          <p:cNvPr id="3" name="Text 1"/>
          <p:cNvSpPr txBox="1"/>
          <p:nvPr/>
        </p:nvSpPr>
        <p:spPr>
          <a:xfrm>
            <a:off x="548640" y="749808"/>
            <a:ext cx="10515600" cy="548640"/>
          </a:xfrm>
          <a:prstGeom prst="rect">
            <a:avLst/>
          </a:prstGeom>
          <a:noFill/>
          <a:ln/>
        </p:spPr>
        <p:txBody>
          <a:bodyPr wrap="square" lIns="0" tIns="0" rIns="0" bIns="0" rtlCol="0" anchor="ctr"/>
          <a:lstStyle/>
          <a:p>
            <a:pPr indent="0" marL="0">
              <a:buNone/>
            </a:pPr>
            <a:r>
              <a:rPr lang="en-US" sz="2800" b="1" dirty="0">
                <a:solidFill>
                  <a:srgbClr val="0B1220"/>
                </a:solidFill>
                <a:latin typeface="Century Schoolbook" pitchFamily="34" charset="0"/>
                <a:ea typeface="Century Schoolbook" pitchFamily="34" charset="-122"/>
                <a:cs typeface="Century Schoolbook" pitchFamily="34" charset="-120"/>
              </a:rPr>
              <a:t>End-to-End Data &amp; Intelligence Pipeline</a:t>
            </a:r>
            <a:endParaRPr lang="en-US" sz="2800" dirty="0"/>
          </a:p>
        </p:txBody>
      </p:sp>
      <p:sp>
        <p:nvSpPr>
          <p:cNvPr id="4" name="Shape 2"/>
          <p:cNvSpPr/>
          <p:nvPr/>
        </p:nvSpPr>
        <p:spPr>
          <a:xfrm>
            <a:off x="548640" y="1508760"/>
            <a:ext cx="11064240" cy="704088"/>
          </a:xfrm>
          <a:prstGeom prst="roundRect">
            <a:avLst>
              <a:gd name="adj" fmla="val 7792"/>
            </a:avLst>
          </a:prstGeom>
          <a:solidFill>
            <a:srgbClr val="F4F7FB"/>
          </a:solidFill>
          <a:ln w="13970">
            <a:solidFill>
              <a:srgbClr val="00A99D"/>
            </a:solidFill>
            <a:prstDash val="solid"/>
          </a:ln>
        </p:spPr>
      </p:sp>
      <p:sp>
        <p:nvSpPr>
          <p:cNvPr id="5" name="Shape 3"/>
          <p:cNvSpPr/>
          <p:nvPr/>
        </p:nvSpPr>
        <p:spPr>
          <a:xfrm>
            <a:off x="548640" y="1508760"/>
            <a:ext cx="502920" cy="704088"/>
          </a:xfrm>
          <a:prstGeom prst="roundRect">
            <a:avLst>
              <a:gd name="adj" fmla="val 10909"/>
            </a:avLst>
          </a:prstGeom>
          <a:solidFill>
            <a:srgbClr val="00A99D">
              <a:alpha val="18000"/>
            </a:srgbClr>
          </a:solidFill>
          <a:ln w="13970">
            <a:solidFill>
              <a:srgbClr val="00A99D"/>
            </a:solidFill>
            <a:prstDash val="solid"/>
          </a:ln>
        </p:spPr>
      </p:sp>
      <p:sp>
        <p:nvSpPr>
          <p:cNvPr id="6" name="Text 4"/>
          <p:cNvSpPr txBox="1"/>
          <p:nvPr/>
        </p:nvSpPr>
        <p:spPr>
          <a:xfrm>
            <a:off x="548640" y="1508760"/>
            <a:ext cx="502920" cy="704088"/>
          </a:xfrm>
          <a:prstGeom prst="rect">
            <a:avLst/>
          </a:prstGeom>
          <a:noFill/>
          <a:ln/>
        </p:spPr>
        <p:txBody>
          <a:bodyPr wrap="square" lIns="0" tIns="0" rIns="0" bIns="0" rtlCol="0" anchor="ctr"/>
          <a:lstStyle/>
          <a:p>
            <a:pPr algn="ctr" indent="0" marL="0">
              <a:buNone/>
            </a:pPr>
            <a:r>
              <a:rPr lang="en-US" sz="1800" b="1" dirty="0">
                <a:solidFill>
                  <a:srgbClr val="00A99D"/>
                </a:solidFill>
                <a:latin typeface="Courier New" pitchFamily="34" charset="0"/>
                <a:ea typeface="Courier New" pitchFamily="34" charset="-122"/>
                <a:cs typeface="Courier New" pitchFamily="34" charset="-120"/>
              </a:rPr>
              <a:t>1</a:t>
            </a:r>
            <a:endParaRPr lang="en-US" sz="1800" dirty="0"/>
          </a:p>
        </p:txBody>
      </p:sp>
      <p:sp>
        <p:nvSpPr>
          <p:cNvPr id="7" name="Text 5"/>
          <p:cNvSpPr txBox="1"/>
          <p:nvPr/>
        </p:nvSpPr>
        <p:spPr>
          <a:xfrm>
            <a:off x="1234440" y="1554480"/>
            <a:ext cx="9966960" cy="320040"/>
          </a:xfrm>
          <a:prstGeom prst="rect">
            <a:avLst/>
          </a:prstGeom>
          <a:noFill/>
          <a:ln/>
        </p:spPr>
        <p:txBody>
          <a:bodyPr wrap="square" lIns="0" tIns="0" rIns="0" bIns="0" rtlCol="0" anchor="ctr"/>
          <a:lstStyle/>
          <a:p>
            <a:pPr indent="0" marL="0">
              <a:buNone/>
            </a:pPr>
            <a:r>
              <a:rPr lang="en-US" sz="1350" b="1" dirty="0">
                <a:solidFill>
                  <a:srgbClr val="0B1220"/>
                </a:solidFill>
                <a:latin typeface="Calibri" pitchFamily="34" charset="0"/>
                <a:ea typeface="Calibri" pitchFamily="34" charset="-122"/>
                <a:cs typeface="Calibri" pitchFamily="34" charset="-120"/>
              </a:rPr>
              <a:t>RAW TELEMETRY &amp; WEATHER FEEDS</a:t>
            </a:r>
            <a:endParaRPr lang="en-US" sz="1350" dirty="0"/>
          </a:p>
        </p:txBody>
      </p:sp>
      <p:sp>
        <p:nvSpPr>
          <p:cNvPr id="8" name="Text 6"/>
          <p:cNvSpPr txBox="1"/>
          <p:nvPr/>
        </p:nvSpPr>
        <p:spPr>
          <a:xfrm>
            <a:off x="1234440" y="1856232"/>
            <a:ext cx="9966960" cy="301752"/>
          </a:xfrm>
          <a:prstGeom prst="rect">
            <a:avLst/>
          </a:prstGeom>
          <a:noFill/>
          <a:ln/>
        </p:spPr>
        <p:txBody>
          <a:bodyPr wrap="square" lIns="0" tIns="0" rIns="0" bIns="0" rtlCol="0" anchor="ctr"/>
          <a:lstStyle/>
          <a:p>
            <a:pPr indent="0" marL="0">
              <a:buNone/>
            </a:pPr>
            <a:r>
              <a:rPr lang="en-US" sz="950" dirty="0">
                <a:solidFill>
                  <a:srgbClr val="5B6478"/>
                </a:solidFill>
                <a:latin typeface="Courier New" pitchFamily="34" charset="0"/>
                <a:ea typeface="Courier New" pitchFamily="34" charset="-122"/>
                <a:cs typeface="Courier New" pitchFamily="34" charset="-120"/>
              </a:rPr>
              <a:t>Grid Load/Freq  ·  GHI/Temp/Wind  ·  Inverter/Panel/Turbine Sensors</a:t>
            </a:r>
            <a:endParaRPr lang="en-US" sz="950" dirty="0"/>
          </a:p>
        </p:txBody>
      </p:sp>
      <p:sp>
        <p:nvSpPr>
          <p:cNvPr id="9" name="Shape 7"/>
          <p:cNvSpPr/>
          <p:nvPr/>
        </p:nvSpPr>
        <p:spPr>
          <a:xfrm>
            <a:off x="6080760" y="2212848"/>
            <a:ext cx="0" cy="539496"/>
          </a:xfrm>
          <a:prstGeom prst="line">
            <a:avLst/>
          </a:prstGeom>
          <a:noFill/>
          <a:ln w="15875">
            <a:solidFill>
              <a:srgbClr val="5B6478"/>
            </a:solidFill>
            <a:prstDash val="solid"/>
          </a:ln>
        </p:spPr>
      </p:sp>
      <p:sp>
        <p:nvSpPr>
          <p:cNvPr id="10" name="Shape 8"/>
          <p:cNvSpPr/>
          <p:nvPr/>
        </p:nvSpPr>
        <p:spPr>
          <a:xfrm>
            <a:off x="548640" y="2606040"/>
            <a:ext cx="11064240" cy="704088"/>
          </a:xfrm>
          <a:prstGeom prst="roundRect">
            <a:avLst>
              <a:gd name="adj" fmla="val 7792"/>
            </a:avLst>
          </a:prstGeom>
          <a:solidFill>
            <a:srgbClr val="F4F7FB"/>
          </a:solidFill>
          <a:ln w="13970">
            <a:solidFill>
              <a:srgbClr val="C98A00"/>
            </a:solidFill>
            <a:prstDash val="solid"/>
          </a:ln>
        </p:spPr>
      </p:sp>
      <p:sp>
        <p:nvSpPr>
          <p:cNvPr id="11" name="Shape 9"/>
          <p:cNvSpPr/>
          <p:nvPr/>
        </p:nvSpPr>
        <p:spPr>
          <a:xfrm>
            <a:off x="548640" y="2606040"/>
            <a:ext cx="502920" cy="704088"/>
          </a:xfrm>
          <a:prstGeom prst="roundRect">
            <a:avLst>
              <a:gd name="adj" fmla="val 10909"/>
            </a:avLst>
          </a:prstGeom>
          <a:solidFill>
            <a:srgbClr val="C98A00">
              <a:alpha val="18000"/>
            </a:srgbClr>
          </a:solidFill>
          <a:ln w="13970">
            <a:solidFill>
              <a:srgbClr val="C98A00"/>
            </a:solidFill>
            <a:prstDash val="solid"/>
          </a:ln>
        </p:spPr>
      </p:sp>
      <p:sp>
        <p:nvSpPr>
          <p:cNvPr id="12" name="Text 10"/>
          <p:cNvSpPr txBox="1"/>
          <p:nvPr/>
        </p:nvSpPr>
        <p:spPr>
          <a:xfrm>
            <a:off x="548640" y="2606040"/>
            <a:ext cx="502920" cy="704088"/>
          </a:xfrm>
          <a:prstGeom prst="rect">
            <a:avLst/>
          </a:prstGeom>
          <a:noFill/>
          <a:ln/>
        </p:spPr>
        <p:txBody>
          <a:bodyPr wrap="square" lIns="0" tIns="0" rIns="0" bIns="0" rtlCol="0" anchor="ctr"/>
          <a:lstStyle/>
          <a:p>
            <a:pPr algn="ctr" indent="0" marL="0">
              <a:buNone/>
            </a:pPr>
            <a:r>
              <a:rPr lang="en-US" sz="1800" b="1" dirty="0">
                <a:solidFill>
                  <a:srgbClr val="C98A00"/>
                </a:solidFill>
                <a:latin typeface="Courier New" pitchFamily="34" charset="0"/>
                <a:ea typeface="Courier New" pitchFamily="34" charset="-122"/>
                <a:cs typeface="Courier New" pitchFamily="34" charset="-120"/>
              </a:rPr>
              <a:t>2</a:t>
            </a:r>
            <a:endParaRPr lang="en-US" sz="1800" dirty="0"/>
          </a:p>
        </p:txBody>
      </p:sp>
      <p:sp>
        <p:nvSpPr>
          <p:cNvPr id="13" name="Text 11"/>
          <p:cNvSpPr txBox="1"/>
          <p:nvPr/>
        </p:nvSpPr>
        <p:spPr>
          <a:xfrm>
            <a:off x="1234440" y="2651760"/>
            <a:ext cx="9966960" cy="320040"/>
          </a:xfrm>
          <a:prstGeom prst="rect">
            <a:avLst/>
          </a:prstGeom>
          <a:noFill/>
          <a:ln/>
        </p:spPr>
        <p:txBody>
          <a:bodyPr wrap="square" lIns="0" tIns="0" rIns="0" bIns="0" rtlCol="0" anchor="ctr"/>
          <a:lstStyle/>
          <a:p>
            <a:pPr indent="0" marL="0">
              <a:buNone/>
            </a:pPr>
            <a:r>
              <a:rPr lang="en-US" sz="1350" b="1" dirty="0">
                <a:solidFill>
                  <a:srgbClr val="0B1220"/>
                </a:solidFill>
                <a:latin typeface="Calibri" pitchFamily="34" charset="0"/>
                <a:ea typeface="Calibri" pitchFamily="34" charset="-122"/>
                <a:cs typeface="Calibri" pitchFamily="34" charset="-120"/>
              </a:rPr>
              <a:t>FEATURE ENGINEERING + XGBOOST FORECAST</a:t>
            </a:r>
            <a:endParaRPr lang="en-US" sz="1350" dirty="0"/>
          </a:p>
        </p:txBody>
      </p:sp>
      <p:sp>
        <p:nvSpPr>
          <p:cNvPr id="14" name="Text 12"/>
          <p:cNvSpPr txBox="1"/>
          <p:nvPr/>
        </p:nvSpPr>
        <p:spPr>
          <a:xfrm>
            <a:off x="1234440" y="2953512"/>
            <a:ext cx="9966960" cy="301752"/>
          </a:xfrm>
          <a:prstGeom prst="rect">
            <a:avLst/>
          </a:prstGeom>
          <a:noFill/>
          <a:ln/>
        </p:spPr>
        <p:txBody>
          <a:bodyPr wrap="square" lIns="0" tIns="0" rIns="0" bIns="0" rtlCol="0" anchor="ctr"/>
          <a:lstStyle/>
          <a:p>
            <a:pPr indent="0" marL="0">
              <a:buNone/>
            </a:pPr>
            <a:r>
              <a:rPr lang="en-US" sz="950" dirty="0">
                <a:solidFill>
                  <a:srgbClr val="5B6478"/>
                </a:solidFill>
                <a:latin typeface="Courier New" pitchFamily="34" charset="0"/>
                <a:ea typeface="Courier New" pitchFamily="34" charset="-122"/>
                <a:cs typeface="Courier New" pitchFamily="34" charset="-120"/>
              </a:rPr>
              <a:t>Multi-scale lag features  ·  R² = 0.90</a:t>
            </a:r>
            <a:endParaRPr lang="en-US" sz="950" dirty="0"/>
          </a:p>
        </p:txBody>
      </p:sp>
      <p:sp>
        <p:nvSpPr>
          <p:cNvPr id="15" name="Shape 13"/>
          <p:cNvSpPr/>
          <p:nvPr/>
        </p:nvSpPr>
        <p:spPr>
          <a:xfrm>
            <a:off x="6080760" y="3310128"/>
            <a:ext cx="0" cy="539496"/>
          </a:xfrm>
          <a:prstGeom prst="line">
            <a:avLst/>
          </a:prstGeom>
          <a:noFill/>
          <a:ln w="15875">
            <a:solidFill>
              <a:srgbClr val="5B6478"/>
            </a:solidFill>
            <a:prstDash val="solid"/>
          </a:ln>
        </p:spPr>
      </p:sp>
      <p:sp>
        <p:nvSpPr>
          <p:cNvPr id="16" name="Shape 14"/>
          <p:cNvSpPr/>
          <p:nvPr/>
        </p:nvSpPr>
        <p:spPr>
          <a:xfrm>
            <a:off x="548640" y="3703320"/>
            <a:ext cx="11064240" cy="704088"/>
          </a:xfrm>
          <a:prstGeom prst="roundRect">
            <a:avLst>
              <a:gd name="adj" fmla="val 7792"/>
            </a:avLst>
          </a:prstGeom>
          <a:solidFill>
            <a:srgbClr val="F4F7FB"/>
          </a:solidFill>
          <a:ln w="13970">
            <a:solidFill>
              <a:srgbClr val="7C3AED"/>
            </a:solidFill>
            <a:prstDash val="solid"/>
          </a:ln>
        </p:spPr>
      </p:sp>
      <p:sp>
        <p:nvSpPr>
          <p:cNvPr id="17" name="Shape 15"/>
          <p:cNvSpPr/>
          <p:nvPr/>
        </p:nvSpPr>
        <p:spPr>
          <a:xfrm>
            <a:off x="548640" y="3703320"/>
            <a:ext cx="502920" cy="704088"/>
          </a:xfrm>
          <a:prstGeom prst="roundRect">
            <a:avLst>
              <a:gd name="adj" fmla="val 10909"/>
            </a:avLst>
          </a:prstGeom>
          <a:solidFill>
            <a:srgbClr val="7C3AED">
              <a:alpha val="18000"/>
            </a:srgbClr>
          </a:solidFill>
          <a:ln w="13970">
            <a:solidFill>
              <a:srgbClr val="7C3AED"/>
            </a:solidFill>
            <a:prstDash val="solid"/>
          </a:ln>
        </p:spPr>
      </p:sp>
      <p:sp>
        <p:nvSpPr>
          <p:cNvPr id="18" name="Text 16"/>
          <p:cNvSpPr txBox="1"/>
          <p:nvPr/>
        </p:nvSpPr>
        <p:spPr>
          <a:xfrm>
            <a:off x="548640" y="3703320"/>
            <a:ext cx="502920" cy="704088"/>
          </a:xfrm>
          <a:prstGeom prst="rect">
            <a:avLst/>
          </a:prstGeom>
          <a:noFill/>
          <a:ln/>
        </p:spPr>
        <p:txBody>
          <a:bodyPr wrap="square" lIns="0" tIns="0" rIns="0" bIns="0" rtlCol="0" anchor="ctr"/>
          <a:lstStyle/>
          <a:p>
            <a:pPr algn="ctr" indent="0" marL="0">
              <a:buNone/>
            </a:pPr>
            <a:r>
              <a:rPr lang="en-US" sz="1800" b="1" dirty="0">
                <a:solidFill>
                  <a:srgbClr val="7C3AED"/>
                </a:solidFill>
                <a:latin typeface="Courier New" pitchFamily="34" charset="0"/>
                <a:ea typeface="Courier New" pitchFamily="34" charset="-122"/>
                <a:cs typeface="Courier New" pitchFamily="34" charset="-120"/>
              </a:rPr>
              <a:t>3</a:t>
            </a:r>
            <a:endParaRPr lang="en-US" sz="1800" dirty="0"/>
          </a:p>
        </p:txBody>
      </p:sp>
      <p:sp>
        <p:nvSpPr>
          <p:cNvPr id="19" name="Text 17"/>
          <p:cNvSpPr txBox="1"/>
          <p:nvPr/>
        </p:nvSpPr>
        <p:spPr>
          <a:xfrm>
            <a:off x="1234440" y="3749040"/>
            <a:ext cx="9966960" cy="320040"/>
          </a:xfrm>
          <a:prstGeom prst="rect">
            <a:avLst/>
          </a:prstGeom>
          <a:noFill/>
          <a:ln/>
        </p:spPr>
        <p:txBody>
          <a:bodyPr wrap="square" lIns="0" tIns="0" rIns="0" bIns="0" rtlCol="0" anchor="ctr"/>
          <a:lstStyle/>
          <a:p>
            <a:pPr indent="0" marL="0">
              <a:buNone/>
            </a:pPr>
            <a:r>
              <a:rPr lang="en-US" sz="1350" b="1" dirty="0">
                <a:solidFill>
                  <a:srgbClr val="0B1220"/>
                </a:solidFill>
                <a:latin typeface="Calibri" pitchFamily="34" charset="0"/>
                <a:ea typeface="Calibri" pitchFamily="34" charset="-122"/>
                <a:cs typeface="Calibri" pitchFamily="34" charset="-120"/>
              </a:rPr>
              <a:t>PHYSICS GENERATION ENGINE  +  RCA DIAGNOSTIC MATRIX</a:t>
            </a:r>
            <a:endParaRPr lang="en-US" sz="1350" dirty="0"/>
          </a:p>
        </p:txBody>
      </p:sp>
      <p:sp>
        <p:nvSpPr>
          <p:cNvPr id="20" name="Text 18"/>
          <p:cNvSpPr txBox="1"/>
          <p:nvPr/>
        </p:nvSpPr>
        <p:spPr>
          <a:xfrm>
            <a:off x="1234440" y="4050792"/>
            <a:ext cx="9966960" cy="301752"/>
          </a:xfrm>
          <a:prstGeom prst="rect">
            <a:avLst/>
          </a:prstGeom>
          <a:noFill/>
          <a:ln/>
        </p:spPr>
        <p:txBody>
          <a:bodyPr wrap="square" lIns="0" tIns="0" rIns="0" bIns="0" rtlCol="0" anchor="ctr"/>
          <a:lstStyle/>
          <a:p>
            <a:pPr indent="0" marL="0">
              <a:buNone/>
            </a:pPr>
            <a:r>
              <a:rPr lang="en-US" sz="950" dirty="0">
                <a:solidFill>
                  <a:srgbClr val="5B6478"/>
                </a:solidFill>
                <a:latin typeface="Courier New" pitchFamily="34" charset="0"/>
                <a:ea typeface="Courier New" pitchFamily="34" charset="-122"/>
                <a:cs typeface="Courier New" pitchFamily="34" charset="-120"/>
              </a:rPr>
              <a:t>PV (GHI+Temp) &amp; Wind (cubic+wake) expected output  ·  Actual vs. Expected confidence scoring</a:t>
            </a:r>
            <a:endParaRPr lang="en-US" sz="950" dirty="0"/>
          </a:p>
        </p:txBody>
      </p:sp>
      <p:sp>
        <p:nvSpPr>
          <p:cNvPr id="21" name="Shape 19"/>
          <p:cNvSpPr/>
          <p:nvPr/>
        </p:nvSpPr>
        <p:spPr>
          <a:xfrm>
            <a:off x="6080760" y="4407408"/>
            <a:ext cx="0" cy="539496"/>
          </a:xfrm>
          <a:prstGeom prst="line">
            <a:avLst/>
          </a:prstGeom>
          <a:noFill/>
          <a:ln w="15875">
            <a:solidFill>
              <a:srgbClr val="5B6478"/>
            </a:solidFill>
            <a:prstDash val="solid"/>
          </a:ln>
        </p:spPr>
      </p:sp>
      <p:sp>
        <p:nvSpPr>
          <p:cNvPr id="22" name="Shape 20"/>
          <p:cNvSpPr/>
          <p:nvPr/>
        </p:nvSpPr>
        <p:spPr>
          <a:xfrm>
            <a:off x="548640" y="4800600"/>
            <a:ext cx="11064240" cy="704088"/>
          </a:xfrm>
          <a:prstGeom prst="roundRect">
            <a:avLst>
              <a:gd name="adj" fmla="val 7792"/>
            </a:avLst>
          </a:prstGeom>
          <a:solidFill>
            <a:srgbClr val="F4F7FB"/>
          </a:solidFill>
          <a:ln w="13970">
            <a:solidFill>
              <a:srgbClr val="108A56"/>
            </a:solidFill>
            <a:prstDash val="solid"/>
          </a:ln>
        </p:spPr>
      </p:sp>
      <p:sp>
        <p:nvSpPr>
          <p:cNvPr id="23" name="Shape 21"/>
          <p:cNvSpPr/>
          <p:nvPr/>
        </p:nvSpPr>
        <p:spPr>
          <a:xfrm>
            <a:off x="548640" y="4800600"/>
            <a:ext cx="502920" cy="704088"/>
          </a:xfrm>
          <a:prstGeom prst="roundRect">
            <a:avLst>
              <a:gd name="adj" fmla="val 10909"/>
            </a:avLst>
          </a:prstGeom>
          <a:solidFill>
            <a:srgbClr val="108A56">
              <a:alpha val="18000"/>
            </a:srgbClr>
          </a:solidFill>
          <a:ln w="13970">
            <a:solidFill>
              <a:srgbClr val="108A56"/>
            </a:solidFill>
            <a:prstDash val="solid"/>
          </a:ln>
        </p:spPr>
      </p:sp>
      <p:sp>
        <p:nvSpPr>
          <p:cNvPr id="24" name="Text 22"/>
          <p:cNvSpPr txBox="1"/>
          <p:nvPr/>
        </p:nvSpPr>
        <p:spPr>
          <a:xfrm>
            <a:off x="548640" y="4800600"/>
            <a:ext cx="502920" cy="704088"/>
          </a:xfrm>
          <a:prstGeom prst="rect">
            <a:avLst/>
          </a:prstGeom>
          <a:noFill/>
          <a:ln/>
        </p:spPr>
        <p:txBody>
          <a:bodyPr wrap="square" lIns="0" tIns="0" rIns="0" bIns="0" rtlCol="0" anchor="ctr"/>
          <a:lstStyle/>
          <a:p>
            <a:pPr algn="ctr" indent="0" marL="0">
              <a:buNone/>
            </a:pPr>
            <a:r>
              <a:rPr lang="en-US" sz="1800" b="1" dirty="0">
                <a:solidFill>
                  <a:srgbClr val="108A56"/>
                </a:solidFill>
                <a:latin typeface="Courier New" pitchFamily="34" charset="0"/>
                <a:ea typeface="Courier New" pitchFamily="34" charset="-122"/>
                <a:cs typeface="Courier New" pitchFamily="34" charset="-120"/>
              </a:rPr>
              <a:t>4</a:t>
            </a:r>
            <a:endParaRPr lang="en-US" sz="1800" dirty="0"/>
          </a:p>
        </p:txBody>
      </p:sp>
      <p:sp>
        <p:nvSpPr>
          <p:cNvPr id="25" name="Text 23"/>
          <p:cNvSpPr txBox="1"/>
          <p:nvPr/>
        </p:nvSpPr>
        <p:spPr>
          <a:xfrm>
            <a:off x="1234440" y="4846320"/>
            <a:ext cx="9966960" cy="320040"/>
          </a:xfrm>
          <a:prstGeom prst="rect">
            <a:avLst/>
          </a:prstGeom>
          <a:noFill/>
          <a:ln/>
        </p:spPr>
        <p:txBody>
          <a:bodyPr wrap="square" lIns="0" tIns="0" rIns="0" bIns="0" rtlCol="0" anchor="ctr"/>
          <a:lstStyle/>
          <a:p>
            <a:pPr indent="0" marL="0">
              <a:buNone/>
            </a:pPr>
            <a:r>
              <a:rPr lang="en-US" sz="1350" b="1" dirty="0">
                <a:solidFill>
                  <a:srgbClr val="0B1220"/>
                </a:solidFill>
                <a:latin typeface="Calibri" pitchFamily="34" charset="0"/>
                <a:ea typeface="Calibri" pitchFamily="34" charset="-122"/>
                <a:cs typeface="Calibri" pitchFamily="34" charset="-120"/>
              </a:rPr>
              <a:t>GRID BALANCE ENGINE</a:t>
            </a:r>
            <a:endParaRPr lang="en-US" sz="1350" dirty="0"/>
          </a:p>
        </p:txBody>
      </p:sp>
      <p:sp>
        <p:nvSpPr>
          <p:cNvPr id="26" name="Text 24"/>
          <p:cNvSpPr txBox="1"/>
          <p:nvPr/>
        </p:nvSpPr>
        <p:spPr>
          <a:xfrm>
            <a:off x="1234440" y="5148072"/>
            <a:ext cx="9966960" cy="301752"/>
          </a:xfrm>
          <a:prstGeom prst="rect">
            <a:avLst/>
          </a:prstGeom>
          <a:noFill/>
          <a:ln/>
        </p:spPr>
        <p:txBody>
          <a:bodyPr wrap="square" lIns="0" tIns="0" rIns="0" bIns="0" rtlCol="0" anchor="ctr"/>
          <a:lstStyle/>
          <a:p>
            <a:pPr indent="0" marL="0">
              <a:buNone/>
            </a:pPr>
            <a:r>
              <a:rPr lang="en-US" sz="950" dirty="0">
                <a:solidFill>
                  <a:srgbClr val="5B6478"/>
                </a:solidFill>
                <a:latin typeface="Courier New" pitchFamily="34" charset="0"/>
                <a:ea typeface="Courier New" pitchFamily="34" charset="-122"/>
                <a:cs typeface="Courier New" pitchFamily="34" charset="-120"/>
              </a:rPr>
              <a:t>BESS charge/discharge (SOC 20-90%)  ·  Demand-response curtailment minimizer</a:t>
            </a:r>
            <a:endParaRPr lang="en-US" sz="950" dirty="0"/>
          </a:p>
        </p:txBody>
      </p:sp>
      <p:sp>
        <p:nvSpPr>
          <p:cNvPr id="27" name="Shape 25"/>
          <p:cNvSpPr/>
          <p:nvPr/>
        </p:nvSpPr>
        <p:spPr>
          <a:xfrm>
            <a:off x="6080760" y="5504688"/>
            <a:ext cx="0" cy="402336"/>
          </a:xfrm>
          <a:prstGeom prst="line">
            <a:avLst/>
          </a:prstGeom>
          <a:noFill/>
          <a:ln w="15875">
            <a:solidFill>
              <a:srgbClr val="5B6478"/>
            </a:solidFill>
            <a:prstDash val="solid"/>
          </a:ln>
        </p:spPr>
      </p:sp>
      <p:sp>
        <p:nvSpPr>
          <p:cNvPr id="28" name="Shape 26"/>
          <p:cNvSpPr/>
          <p:nvPr/>
        </p:nvSpPr>
        <p:spPr>
          <a:xfrm>
            <a:off x="548640" y="5760720"/>
            <a:ext cx="11064240" cy="704088"/>
          </a:xfrm>
          <a:prstGeom prst="roundRect">
            <a:avLst>
              <a:gd name="adj" fmla="val 7792"/>
            </a:avLst>
          </a:prstGeom>
          <a:solidFill>
            <a:srgbClr val="F4F7FB"/>
          </a:solidFill>
          <a:ln w="13970">
            <a:solidFill>
              <a:srgbClr val="D8264A"/>
            </a:solidFill>
            <a:prstDash val="solid"/>
          </a:ln>
        </p:spPr>
      </p:sp>
      <p:sp>
        <p:nvSpPr>
          <p:cNvPr id="29" name="Shape 27"/>
          <p:cNvSpPr/>
          <p:nvPr/>
        </p:nvSpPr>
        <p:spPr>
          <a:xfrm>
            <a:off x="548640" y="5760720"/>
            <a:ext cx="502920" cy="704088"/>
          </a:xfrm>
          <a:prstGeom prst="roundRect">
            <a:avLst>
              <a:gd name="adj" fmla="val 10909"/>
            </a:avLst>
          </a:prstGeom>
          <a:solidFill>
            <a:srgbClr val="D8264A">
              <a:alpha val="18000"/>
            </a:srgbClr>
          </a:solidFill>
          <a:ln w="13970">
            <a:solidFill>
              <a:srgbClr val="D8264A"/>
            </a:solidFill>
            <a:prstDash val="solid"/>
          </a:ln>
        </p:spPr>
      </p:sp>
      <p:sp>
        <p:nvSpPr>
          <p:cNvPr id="30" name="Text 28"/>
          <p:cNvSpPr txBox="1"/>
          <p:nvPr/>
        </p:nvSpPr>
        <p:spPr>
          <a:xfrm>
            <a:off x="548640" y="5760720"/>
            <a:ext cx="502920" cy="704088"/>
          </a:xfrm>
          <a:prstGeom prst="rect">
            <a:avLst/>
          </a:prstGeom>
          <a:noFill/>
          <a:ln/>
        </p:spPr>
        <p:txBody>
          <a:bodyPr wrap="square" lIns="0" tIns="0" rIns="0" bIns="0" rtlCol="0" anchor="ctr"/>
          <a:lstStyle/>
          <a:p>
            <a:pPr algn="ctr" indent="0" marL="0">
              <a:buNone/>
            </a:pPr>
            <a:r>
              <a:rPr lang="en-US" sz="1800" b="1" dirty="0">
                <a:solidFill>
                  <a:srgbClr val="D8264A"/>
                </a:solidFill>
                <a:latin typeface="Courier New" pitchFamily="34" charset="0"/>
                <a:ea typeface="Courier New" pitchFamily="34" charset="-122"/>
                <a:cs typeface="Courier New" pitchFamily="34" charset="-120"/>
              </a:rPr>
              <a:t>5</a:t>
            </a:r>
            <a:endParaRPr lang="en-US" sz="1800" dirty="0"/>
          </a:p>
        </p:txBody>
      </p:sp>
      <p:sp>
        <p:nvSpPr>
          <p:cNvPr id="31" name="Text 29"/>
          <p:cNvSpPr txBox="1"/>
          <p:nvPr/>
        </p:nvSpPr>
        <p:spPr>
          <a:xfrm>
            <a:off x="1234440" y="5806440"/>
            <a:ext cx="9966960" cy="320040"/>
          </a:xfrm>
          <a:prstGeom prst="rect">
            <a:avLst/>
          </a:prstGeom>
          <a:noFill/>
          <a:ln/>
        </p:spPr>
        <p:txBody>
          <a:bodyPr wrap="square" lIns="0" tIns="0" rIns="0" bIns="0" rtlCol="0" anchor="ctr"/>
          <a:lstStyle/>
          <a:p>
            <a:pPr indent="0" marL="0">
              <a:buNone/>
            </a:pPr>
            <a:r>
              <a:rPr lang="en-US" sz="1350" b="1" dirty="0">
                <a:solidFill>
                  <a:srgbClr val="0B1220"/>
                </a:solidFill>
                <a:latin typeface="Calibri" pitchFamily="34" charset="0"/>
                <a:ea typeface="Calibri" pitchFamily="34" charset="-122"/>
                <a:cs typeface="Calibri" pitchFamily="34" charset="-120"/>
              </a:rPr>
              <a:t>IBM BOB MCP SERVER  →  GLASSMORPHISM OPERATOR DASHBOARD</a:t>
            </a:r>
            <a:endParaRPr lang="en-US" sz="1350" dirty="0"/>
          </a:p>
        </p:txBody>
      </p:sp>
      <p:sp>
        <p:nvSpPr>
          <p:cNvPr id="32" name="Text 30"/>
          <p:cNvSpPr txBox="1"/>
          <p:nvPr/>
        </p:nvSpPr>
        <p:spPr>
          <a:xfrm>
            <a:off x="1234440" y="6108192"/>
            <a:ext cx="9966960" cy="301752"/>
          </a:xfrm>
          <a:prstGeom prst="rect">
            <a:avLst/>
          </a:prstGeom>
          <a:noFill/>
          <a:ln/>
        </p:spPr>
        <p:txBody>
          <a:bodyPr wrap="square" lIns="0" tIns="0" rIns="0" bIns="0" rtlCol="0" anchor="ctr"/>
          <a:lstStyle/>
          <a:p>
            <a:pPr indent="0" marL="0">
              <a:buNone/>
            </a:pPr>
            <a:r>
              <a:rPr lang="en-US" sz="950" dirty="0">
                <a:solidFill>
                  <a:srgbClr val="5B6478"/>
                </a:solidFill>
                <a:latin typeface="Courier New" pitchFamily="34" charset="0"/>
                <a:ea typeface="Courier New" pitchFamily="34" charset="-122"/>
                <a:cs typeface="Courier New" pitchFamily="34" charset="-120"/>
              </a:rPr>
              <a:t>9 native tools  ·  Evidence tags: [MEASURED] [ML MODEL] [RULE] [ANOMALY]</a:t>
            </a:r>
            <a:endParaRPr lang="en-US" sz="950" dirty="0"/>
          </a:p>
        </p:txBody>
      </p:sp>
      <p:sp>
        <p:nvSpPr>
          <p:cNvPr id="33" name="Text 31"/>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5B6478"/>
                </a:solidFill>
                <a:latin typeface="Calibri" pitchFamily="34" charset="0"/>
                <a:ea typeface="Calibri" pitchFamily="34" charset="-122"/>
                <a:cs typeface="Calibri" pitchFamily="34" charset="-120"/>
              </a:rPr>
              <a:t>GRIDWISE AI  ·  TEAM OUTLIERS</a:t>
            </a:r>
            <a:endParaRPr lang="en-US" sz="900" dirty="0"/>
          </a:p>
        </p:txBody>
      </p:sp>
      <p:sp>
        <p:nvSpPr>
          <p:cNvPr id="34" name="Text 32"/>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ourier New" pitchFamily="34" charset="0"/>
                <a:ea typeface="Courier New" pitchFamily="34" charset="-122"/>
                <a:cs typeface="Courier New" pitchFamily="34" charset="-120"/>
              </a:rPr>
              <a:t>04 / 08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100" b="1" spc="200" kern="0" dirty="0">
                <a:solidFill>
                  <a:srgbClr val="007A72"/>
                </a:solidFill>
                <a:latin typeface="Courier New" pitchFamily="34" charset="0"/>
                <a:ea typeface="Courier New" pitchFamily="34" charset="-122"/>
                <a:cs typeface="Courier New" pitchFamily="34" charset="-120"/>
              </a:rPr>
              <a:t>TECHNICAL INNOVATIONS</a:t>
            </a:r>
            <a:endParaRPr lang="en-US" sz="1100" dirty="0"/>
          </a:p>
        </p:txBody>
      </p:sp>
      <p:sp>
        <p:nvSpPr>
          <p:cNvPr id="3" name="Text 1"/>
          <p:cNvSpPr txBox="1"/>
          <p:nvPr/>
        </p:nvSpPr>
        <p:spPr>
          <a:xfrm>
            <a:off x="548640" y="749808"/>
            <a:ext cx="10515600" cy="548640"/>
          </a:xfrm>
          <a:prstGeom prst="rect">
            <a:avLst/>
          </a:prstGeom>
          <a:noFill/>
          <a:ln/>
        </p:spPr>
        <p:txBody>
          <a:bodyPr wrap="square" lIns="0" tIns="0" rIns="0" bIns="0" rtlCol="0" anchor="ctr"/>
          <a:lstStyle/>
          <a:p>
            <a:pPr indent="0" marL="0">
              <a:buNone/>
            </a:pPr>
            <a:r>
              <a:rPr lang="en-US" sz="2800" b="1" dirty="0">
                <a:solidFill>
                  <a:srgbClr val="0B1220"/>
                </a:solidFill>
                <a:latin typeface="Century Schoolbook" pitchFamily="34" charset="0"/>
                <a:ea typeface="Century Schoolbook" pitchFamily="34" charset="-122"/>
                <a:cs typeface="Century Schoolbook" pitchFamily="34" charset="-120"/>
              </a:rPr>
              <a:t>Core Algorithms Under the Hood</a:t>
            </a:r>
            <a:endParaRPr lang="en-US" sz="2800" dirty="0"/>
          </a:p>
        </p:txBody>
      </p:sp>
      <p:sp>
        <p:nvSpPr>
          <p:cNvPr id="4" name="Shape 2"/>
          <p:cNvSpPr/>
          <p:nvPr/>
        </p:nvSpPr>
        <p:spPr>
          <a:xfrm>
            <a:off x="548640" y="1508760"/>
            <a:ext cx="5440680" cy="1965960"/>
          </a:xfrm>
          <a:prstGeom prst="roundRect">
            <a:avLst>
              <a:gd name="adj" fmla="val 3256"/>
            </a:avLst>
          </a:prstGeom>
          <a:solidFill>
            <a:srgbClr val="F4F7FB"/>
          </a:solidFill>
          <a:ln w="15875">
            <a:solidFill>
              <a:srgbClr val="00A99D"/>
            </a:solidFill>
            <a:prstDash val="solid"/>
          </a:ln>
          <a:effectLst>
            <a:outerShdw sx="100000" sy="100000" kx="0" ky="0" algn="bl" rotWithShape="0" blurRad="76200" dist="25400" dir="5400000">
              <a:srgbClr val="6B7A99">
                <a:alpha val="15000"/>
              </a:srgbClr>
            </a:outerShdw>
          </a:effectLst>
        </p:spPr>
      </p:sp>
      <p:sp>
        <p:nvSpPr>
          <p:cNvPr id="5" name="Shape 3"/>
          <p:cNvSpPr/>
          <p:nvPr/>
        </p:nvSpPr>
        <p:spPr>
          <a:xfrm>
            <a:off x="548640" y="1508760"/>
            <a:ext cx="82296" cy="1965960"/>
          </a:xfrm>
          <a:prstGeom prst="rect">
            <a:avLst/>
          </a:prstGeom>
          <a:solidFill>
            <a:srgbClr val="00A99D"/>
          </a:solidFill>
          <a:ln/>
        </p:spPr>
      </p:sp>
      <p:sp>
        <p:nvSpPr>
          <p:cNvPr id="6" name="Text 4"/>
          <p:cNvSpPr txBox="1"/>
          <p:nvPr/>
        </p:nvSpPr>
        <p:spPr>
          <a:xfrm>
            <a:off x="841248" y="1673352"/>
            <a:ext cx="4892040" cy="320040"/>
          </a:xfrm>
          <a:prstGeom prst="rect">
            <a:avLst/>
          </a:prstGeom>
          <a:noFill/>
          <a:ln/>
        </p:spPr>
        <p:txBody>
          <a:bodyPr wrap="square" lIns="0" tIns="0" rIns="0" bIns="0" rtlCol="0" anchor="ctr"/>
          <a:lstStyle/>
          <a:p>
            <a:pPr indent="0" marL="0">
              <a:buNone/>
            </a:pPr>
            <a:r>
              <a:rPr lang="en-US" sz="1250" b="1" spc="100" kern="0" dirty="0">
                <a:solidFill>
                  <a:srgbClr val="00A99D"/>
                </a:solidFill>
                <a:latin typeface="Courier New" pitchFamily="34" charset="0"/>
                <a:ea typeface="Courier New" pitchFamily="34" charset="-122"/>
                <a:cs typeface="Courier New" pitchFamily="34" charset="-120"/>
              </a:rPr>
              <a:t>MACHINE LEARNING</a:t>
            </a:r>
            <a:endParaRPr lang="en-US" sz="1250" dirty="0"/>
          </a:p>
        </p:txBody>
      </p:sp>
      <p:sp>
        <p:nvSpPr>
          <p:cNvPr id="7" name="Text 5"/>
          <p:cNvSpPr txBox="1"/>
          <p:nvPr/>
        </p:nvSpPr>
        <p:spPr>
          <a:xfrm>
            <a:off x="841248" y="2075688"/>
            <a:ext cx="4892040" cy="822960"/>
          </a:xfrm>
          <a:prstGeom prst="rect">
            <a:avLst/>
          </a:prstGeom>
          <a:noFill/>
          <a:ln/>
        </p:spPr>
        <p:txBody>
          <a:bodyPr wrap="square" lIns="0" tIns="0" rIns="0" bIns="0" rtlCol="0" anchor="ctr"/>
          <a:lstStyle/>
          <a:p>
            <a:pPr indent="0" marL="0">
              <a:buNone/>
            </a:pPr>
            <a:r>
              <a:rPr lang="en-US" sz="1150" dirty="0">
                <a:solidFill>
                  <a:srgbClr val="0B1220"/>
                </a:solidFill>
                <a:latin typeface="Calibri" pitchFamily="34" charset="0"/>
                <a:ea typeface="Calibri" pitchFamily="34" charset="-122"/>
                <a:cs typeface="Calibri" pitchFamily="34" charset="-120"/>
              </a:rPr>
              <a:t>Leakage-free chronological XGBoost model on multi-scale lag features (1hr / 24hr / 7-day).</a:t>
            </a:r>
            <a:endParaRPr lang="en-US" sz="1150" dirty="0"/>
          </a:p>
        </p:txBody>
      </p:sp>
      <p:sp>
        <p:nvSpPr>
          <p:cNvPr id="8" name="Shape 6"/>
          <p:cNvSpPr/>
          <p:nvPr/>
        </p:nvSpPr>
        <p:spPr>
          <a:xfrm>
            <a:off x="841248" y="2971800"/>
            <a:ext cx="4855464" cy="347472"/>
          </a:xfrm>
          <a:prstGeom prst="roundRect">
            <a:avLst>
              <a:gd name="adj" fmla="val 10526"/>
            </a:avLst>
          </a:prstGeom>
          <a:solidFill>
            <a:srgbClr val="FFFFFF"/>
          </a:solidFill>
          <a:ln w="9525">
            <a:solidFill>
              <a:srgbClr val="00A99D"/>
            </a:solidFill>
            <a:prstDash val="solid"/>
          </a:ln>
        </p:spPr>
      </p:sp>
      <p:sp>
        <p:nvSpPr>
          <p:cNvPr id="9" name="Text 7"/>
          <p:cNvSpPr txBox="1"/>
          <p:nvPr/>
        </p:nvSpPr>
        <p:spPr>
          <a:xfrm>
            <a:off x="841248" y="2971800"/>
            <a:ext cx="4855464" cy="347472"/>
          </a:xfrm>
          <a:prstGeom prst="rect">
            <a:avLst/>
          </a:prstGeom>
          <a:noFill/>
          <a:ln/>
        </p:spPr>
        <p:txBody>
          <a:bodyPr wrap="square" lIns="0" tIns="0" rIns="0" bIns="0" rtlCol="0" anchor="ctr"/>
          <a:lstStyle/>
          <a:p>
            <a:pPr algn="ctr" indent="0" marL="0">
              <a:buNone/>
            </a:pPr>
            <a:r>
              <a:rPr lang="en-US" sz="1000" dirty="0">
                <a:solidFill>
                  <a:srgbClr val="00A99D"/>
                </a:solidFill>
                <a:latin typeface="Courier New" pitchFamily="34" charset="0"/>
                <a:ea typeface="Courier New" pitchFamily="34" charset="-122"/>
                <a:cs typeface="Courier New" pitchFamily="34" charset="-120"/>
              </a:rPr>
              <a:t>R² = 0.90  |  strict time-ordered split</a:t>
            </a:r>
            <a:endParaRPr lang="en-US" sz="1000" dirty="0"/>
          </a:p>
        </p:txBody>
      </p:sp>
      <p:sp>
        <p:nvSpPr>
          <p:cNvPr id="10" name="Shape 8"/>
          <p:cNvSpPr/>
          <p:nvPr/>
        </p:nvSpPr>
        <p:spPr>
          <a:xfrm>
            <a:off x="6172200" y="1508760"/>
            <a:ext cx="5440680" cy="1965960"/>
          </a:xfrm>
          <a:prstGeom prst="roundRect">
            <a:avLst>
              <a:gd name="adj" fmla="val 3256"/>
            </a:avLst>
          </a:prstGeom>
          <a:solidFill>
            <a:srgbClr val="F4F7FB"/>
          </a:solidFill>
          <a:ln w="15875">
            <a:solidFill>
              <a:srgbClr val="108A56"/>
            </a:solidFill>
            <a:prstDash val="solid"/>
          </a:ln>
          <a:effectLst>
            <a:outerShdw sx="100000" sy="100000" kx="0" ky="0" algn="bl" rotWithShape="0" blurRad="76200" dist="25400" dir="5400000">
              <a:srgbClr val="6B7A99">
                <a:alpha val="15000"/>
              </a:srgbClr>
            </a:outerShdw>
          </a:effectLst>
        </p:spPr>
      </p:sp>
      <p:sp>
        <p:nvSpPr>
          <p:cNvPr id="11" name="Shape 9"/>
          <p:cNvSpPr/>
          <p:nvPr/>
        </p:nvSpPr>
        <p:spPr>
          <a:xfrm>
            <a:off x="6172200" y="1508760"/>
            <a:ext cx="82296" cy="1965960"/>
          </a:xfrm>
          <a:prstGeom prst="rect">
            <a:avLst/>
          </a:prstGeom>
          <a:solidFill>
            <a:srgbClr val="108A56"/>
          </a:solidFill>
          <a:ln/>
        </p:spPr>
      </p:sp>
      <p:sp>
        <p:nvSpPr>
          <p:cNvPr id="12" name="Text 10"/>
          <p:cNvSpPr txBox="1"/>
          <p:nvPr/>
        </p:nvSpPr>
        <p:spPr>
          <a:xfrm>
            <a:off x="6464808" y="1673352"/>
            <a:ext cx="4892040" cy="320040"/>
          </a:xfrm>
          <a:prstGeom prst="rect">
            <a:avLst/>
          </a:prstGeom>
          <a:noFill/>
          <a:ln/>
        </p:spPr>
        <p:txBody>
          <a:bodyPr wrap="square" lIns="0" tIns="0" rIns="0" bIns="0" rtlCol="0" anchor="ctr"/>
          <a:lstStyle/>
          <a:p>
            <a:pPr indent="0" marL="0">
              <a:buNone/>
            </a:pPr>
            <a:r>
              <a:rPr lang="en-US" sz="1250" b="1" spc="100" kern="0" dirty="0">
                <a:solidFill>
                  <a:srgbClr val="108A56"/>
                </a:solidFill>
                <a:latin typeface="Courier New" pitchFamily="34" charset="0"/>
                <a:ea typeface="Courier New" pitchFamily="34" charset="-122"/>
                <a:cs typeface="Courier New" pitchFamily="34" charset="-120"/>
              </a:rPr>
              <a:t>PHYSICS-INFORMED EXPECTED POWER</a:t>
            </a:r>
            <a:endParaRPr lang="en-US" sz="1250" dirty="0"/>
          </a:p>
        </p:txBody>
      </p:sp>
      <p:sp>
        <p:nvSpPr>
          <p:cNvPr id="13" name="Text 11"/>
          <p:cNvSpPr txBox="1"/>
          <p:nvPr/>
        </p:nvSpPr>
        <p:spPr>
          <a:xfrm>
            <a:off x="6464808" y="2075688"/>
            <a:ext cx="4892040" cy="822960"/>
          </a:xfrm>
          <a:prstGeom prst="rect">
            <a:avLst/>
          </a:prstGeom>
          <a:noFill/>
          <a:ln/>
        </p:spPr>
        <p:txBody>
          <a:bodyPr wrap="square" lIns="0" tIns="0" rIns="0" bIns="0" rtlCol="0" anchor="ctr"/>
          <a:lstStyle/>
          <a:p>
            <a:pPr indent="0" marL="0">
              <a:buNone/>
            </a:pPr>
            <a:r>
              <a:rPr lang="en-US" sz="1150" dirty="0">
                <a:solidFill>
                  <a:srgbClr val="0B1220"/>
                </a:solidFill>
                <a:latin typeface="Calibri" pitchFamily="34" charset="0"/>
                <a:ea typeface="Calibri" pitchFamily="34" charset="-122"/>
                <a:cs typeface="Calibri" pitchFamily="34" charset="-120"/>
              </a:rPr>
              <a:t>PV: irradiance x temperature-derated efficiency. Wind: empirical cubic power curve with wake-loss correction.</a:t>
            </a:r>
            <a:endParaRPr lang="en-US" sz="1150" dirty="0"/>
          </a:p>
        </p:txBody>
      </p:sp>
      <p:sp>
        <p:nvSpPr>
          <p:cNvPr id="14" name="Shape 12"/>
          <p:cNvSpPr/>
          <p:nvPr/>
        </p:nvSpPr>
        <p:spPr>
          <a:xfrm>
            <a:off x="6464808" y="2971800"/>
            <a:ext cx="4855464" cy="347472"/>
          </a:xfrm>
          <a:prstGeom prst="roundRect">
            <a:avLst>
              <a:gd name="adj" fmla="val 10526"/>
            </a:avLst>
          </a:prstGeom>
          <a:solidFill>
            <a:srgbClr val="FFFFFF"/>
          </a:solidFill>
          <a:ln w="9525">
            <a:solidFill>
              <a:srgbClr val="108A56"/>
            </a:solidFill>
            <a:prstDash val="solid"/>
          </a:ln>
        </p:spPr>
      </p:sp>
      <p:sp>
        <p:nvSpPr>
          <p:cNvPr id="15" name="Text 13"/>
          <p:cNvSpPr txBox="1"/>
          <p:nvPr/>
        </p:nvSpPr>
        <p:spPr>
          <a:xfrm>
            <a:off x="6464808" y="2971800"/>
            <a:ext cx="4855464" cy="347472"/>
          </a:xfrm>
          <a:prstGeom prst="rect">
            <a:avLst/>
          </a:prstGeom>
          <a:noFill/>
          <a:ln/>
        </p:spPr>
        <p:txBody>
          <a:bodyPr wrap="square" lIns="0" tIns="0" rIns="0" bIns="0" rtlCol="0" anchor="ctr"/>
          <a:lstStyle/>
          <a:p>
            <a:pPr algn="ctr" indent="0" marL="0">
              <a:buNone/>
            </a:pPr>
            <a:r>
              <a:rPr lang="en-US" sz="1000" dirty="0">
                <a:solidFill>
                  <a:srgbClr val="108A56"/>
                </a:solidFill>
                <a:latin typeface="Courier New" pitchFamily="34" charset="0"/>
                <a:ea typeface="Courier New" pitchFamily="34" charset="-122"/>
                <a:cs typeface="Courier New" pitchFamily="34" charset="-120"/>
              </a:rPr>
              <a:t>P = f(GHI,T)  |  P = f(v_wind^3, wake)</a:t>
            </a:r>
            <a:endParaRPr lang="en-US" sz="1000" dirty="0"/>
          </a:p>
        </p:txBody>
      </p:sp>
      <p:sp>
        <p:nvSpPr>
          <p:cNvPr id="16" name="Shape 14"/>
          <p:cNvSpPr/>
          <p:nvPr/>
        </p:nvSpPr>
        <p:spPr>
          <a:xfrm>
            <a:off x="548640" y="3611880"/>
            <a:ext cx="5440680" cy="1965960"/>
          </a:xfrm>
          <a:prstGeom prst="roundRect">
            <a:avLst>
              <a:gd name="adj" fmla="val 3256"/>
            </a:avLst>
          </a:prstGeom>
          <a:solidFill>
            <a:srgbClr val="F4F7FB"/>
          </a:solidFill>
          <a:ln w="15875">
            <a:solidFill>
              <a:srgbClr val="7C3AED"/>
            </a:solidFill>
            <a:prstDash val="solid"/>
          </a:ln>
          <a:effectLst>
            <a:outerShdw sx="100000" sy="100000" kx="0" ky="0" algn="bl" rotWithShape="0" blurRad="76200" dist="25400" dir="5400000">
              <a:srgbClr val="6B7A99">
                <a:alpha val="15000"/>
              </a:srgbClr>
            </a:outerShdw>
          </a:effectLst>
        </p:spPr>
      </p:sp>
      <p:sp>
        <p:nvSpPr>
          <p:cNvPr id="17" name="Shape 15"/>
          <p:cNvSpPr/>
          <p:nvPr/>
        </p:nvSpPr>
        <p:spPr>
          <a:xfrm>
            <a:off x="548640" y="3611880"/>
            <a:ext cx="82296" cy="1965960"/>
          </a:xfrm>
          <a:prstGeom prst="rect">
            <a:avLst/>
          </a:prstGeom>
          <a:solidFill>
            <a:srgbClr val="7C3AED"/>
          </a:solidFill>
          <a:ln/>
        </p:spPr>
      </p:sp>
      <p:sp>
        <p:nvSpPr>
          <p:cNvPr id="18" name="Text 16"/>
          <p:cNvSpPr txBox="1"/>
          <p:nvPr/>
        </p:nvSpPr>
        <p:spPr>
          <a:xfrm>
            <a:off x="841248" y="3776472"/>
            <a:ext cx="4892040" cy="320040"/>
          </a:xfrm>
          <a:prstGeom prst="rect">
            <a:avLst/>
          </a:prstGeom>
          <a:noFill/>
          <a:ln/>
        </p:spPr>
        <p:txBody>
          <a:bodyPr wrap="square" lIns="0" tIns="0" rIns="0" bIns="0" rtlCol="0" anchor="ctr"/>
          <a:lstStyle/>
          <a:p>
            <a:pPr indent="0" marL="0">
              <a:buNone/>
            </a:pPr>
            <a:r>
              <a:rPr lang="en-US" sz="1250" b="1" spc="100" kern="0" dirty="0">
                <a:solidFill>
                  <a:srgbClr val="7C3AED"/>
                </a:solidFill>
                <a:latin typeface="Courier New" pitchFamily="34" charset="0"/>
                <a:ea typeface="Courier New" pitchFamily="34" charset="-122"/>
                <a:cs typeface="Courier New" pitchFamily="34" charset="-120"/>
              </a:rPr>
              <a:t>EXPLAINABLE RCA ENGINE</a:t>
            </a:r>
            <a:endParaRPr lang="en-US" sz="1250" dirty="0"/>
          </a:p>
        </p:txBody>
      </p:sp>
      <p:sp>
        <p:nvSpPr>
          <p:cNvPr id="19" name="Text 17"/>
          <p:cNvSpPr txBox="1"/>
          <p:nvPr/>
        </p:nvSpPr>
        <p:spPr>
          <a:xfrm>
            <a:off x="841248" y="4178808"/>
            <a:ext cx="4892040" cy="822960"/>
          </a:xfrm>
          <a:prstGeom prst="rect">
            <a:avLst/>
          </a:prstGeom>
          <a:noFill/>
          <a:ln/>
        </p:spPr>
        <p:txBody>
          <a:bodyPr wrap="square" lIns="0" tIns="0" rIns="0" bIns="0" rtlCol="0" anchor="ctr"/>
          <a:lstStyle/>
          <a:p>
            <a:pPr indent="0" marL="0">
              <a:buNone/>
            </a:pPr>
            <a:r>
              <a:rPr lang="en-US" sz="1150" dirty="0">
                <a:solidFill>
                  <a:srgbClr val="0B1220"/>
                </a:solidFill>
                <a:latin typeface="Calibri" pitchFamily="34" charset="0"/>
                <a:ea typeface="Calibri" pitchFamily="34" charset="-122"/>
                <a:cs typeface="Calibri" pitchFamily="34" charset="-120"/>
              </a:rPr>
              <a:t>Deterministic confidence scoring prevents false alarms on overcast/low-wind days while pinpointing real faults.</a:t>
            </a:r>
            <a:endParaRPr lang="en-US" sz="1150" dirty="0"/>
          </a:p>
        </p:txBody>
      </p:sp>
      <p:sp>
        <p:nvSpPr>
          <p:cNvPr id="20" name="Shape 18"/>
          <p:cNvSpPr/>
          <p:nvPr/>
        </p:nvSpPr>
        <p:spPr>
          <a:xfrm>
            <a:off x="841248" y="5074920"/>
            <a:ext cx="4855464" cy="347472"/>
          </a:xfrm>
          <a:prstGeom prst="roundRect">
            <a:avLst>
              <a:gd name="adj" fmla="val 10526"/>
            </a:avLst>
          </a:prstGeom>
          <a:solidFill>
            <a:srgbClr val="FFFFFF"/>
          </a:solidFill>
          <a:ln w="9525">
            <a:solidFill>
              <a:srgbClr val="7C3AED"/>
            </a:solidFill>
            <a:prstDash val="solid"/>
          </a:ln>
        </p:spPr>
      </p:sp>
      <p:sp>
        <p:nvSpPr>
          <p:cNvPr id="21" name="Text 19"/>
          <p:cNvSpPr txBox="1"/>
          <p:nvPr/>
        </p:nvSpPr>
        <p:spPr>
          <a:xfrm>
            <a:off x="841248" y="5074920"/>
            <a:ext cx="4855464" cy="347472"/>
          </a:xfrm>
          <a:prstGeom prst="rect">
            <a:avLst/>
          </a:prstGeom>
          <a:noFill/>
          <a:ln/>
        </p:spPr>
        <p:txBody>
          <a:bodyPr wrap="square" lIns="0" tIns="0" rIns="0" bIns="0" rtlCol="0" anchor="ctr"/>
          <a:lstStyle/>
          <a:p>
            <a:pPr algn="ctr" indent="0" marL="0">
              <a:buNone/>
            </a:pPr>
            <a:r>
              <a:rPr lang="en-US" sz="1000" dirty="0">
                <a:solidFill>
                  <a:srgbClr val="7C3AED"/>
                </a:solidFill>
                <a:latin typeface="Courier New" pitchFamily="34" charset="0"/>
                <a:ea typeface="Courier New" pitchFamily="34" charset="-122"/>
                <a:cs typeface="Courier New" pitchFamily="34" charset="-120"/>
              </a:rPr>
              <a:t>Δ = actual - expected  -&gt;  confidence %</a:t>
            </a:r>
            <a:endParaRPr lang="en-US" sz="1000" dirty="0"/>
          </a:p>
        </p:txBody>
      </p:sp>
      <p:sp>
        <p:nvSpPr>
          <p:cNvPr id="22" name="Shape 20"/>
          <p:cNvSpPr/>
          <p:nvPr/>
        </p:nvSpPr>
        <p:spPr>
          <a:xfrm>
            <a:off x="6172200" y="3611880"/>
            <a:ext cx="5440680" cy="1965960"/>
          </a:xfrm>
          <a:prstGeom prst="roundRect">
            <a:avLst>
              <a:gd name="adj" fmla="val 3256"/>
            </a:avLst>
          </a:prstGeom>
          <a:solidFill>
            <a:srgbClr val="F4F7FB"/>
          </a:solidFill>
          <a:ln w="15875">
            <a:solidFill>
              <a:srgbClr val="C98A00"/>
            </a:solidFill>
            <a:prstDash val="solid"/>
          </a:ln>
          <a:effectLst>
            <a:outerShdw sx="100000" sy="100000" kx="0" ky="0" algn="bl" rotWithShape="0" blurRad="76200" dist="25400" dir="5400000">
              <a:srgbClr val="6B7A99">
                <a:alpha val="15000"/>
              </a:srgbClr>
            </a:outerShdw>
          </a:effectLst>
        </p:spPr>
      </p:sp>
      <p:sp>
        <p:nvSpPr>
          <p:cNvPr id="23" name="Shape 21"/>
          <p:cNvSpPr/>
          <p:nvPr/>
        </p:nvSpPr>
        <p:spPr>
          <a:xfrm>
            <a:off x="6172200" y="3611880"/>
            <a:ext cx="82296" cy="1965960"/>
          </a:xfrm>
          <a:prstGeom prst="rect">
            <a:avLst/>
          </a:prstGeom>
          <a:solidFill>
            <a:srgbClr val="C98A00"/>
          </a:solidFill>
          <a:ln/>
        </p:spPr>
      </p:sp>
      <p:sp>
        <p:nvSpPr>
          <p:cNvPr id="24" name="Text 22"/>
          <p:cNvSpPr txBox="1"/>
          <p:nvPr/>
        </p:nvSpPr>
        <p:spPr>
          <a:xfrm>
            <a:off x="6464808" y="3776472"/>
            <a:ext cx="4892040" cy="320040"/>
          </a:xfrm>
          <a:prstGeom prst="rect">
            <a:avLst/>
          </a:prstGeom>
          <a:noFill/>
          <a:ln/>
        </p:spPr>
        <p:txBody>
          <a:bodyPr wrap="square" lIns="0" tIns="0" rIns="0" bIns="0" rtlCol="0" anchor="ctr"/>
          <a:lstStyle/>
          <a:p>
            <a:pPr indent="0" marL="0">
              <a:buNone/>
            </a:pPr>
            <a:r>
              <a:rPr lang="en-US" sz="1250" b="1" spc="100" kern="0" dirty="0">
                <a:solidFill>
                  <a:srgbClr val="C98A00"/>
                </a:solidFill>
                <a:latin typeface="Courier New" pitchFamily="34" charset="0"/>
                <a:ea typeface="Courier New" pitchFamily="34" charset="-122"/>
                <a:cs typeface="Courier New" pitchFamily="34" charset="-120"/>
              </a:rPr>
              <a:t>PRIORITY BALANCING LOGIC</a:t>
            </a:r>
            <a:endParaRPr lang="en-US" sz="1250" dirty="0"/>
          </a:p>
        </p:txBody>
      </p:sp>
      <p:sp>
        <p:nvSpPr>
          <p:cNvPr id="25" name="Text 23"/>
          <p:cNvSpPr txBox="1"/>
          <p:nvPr/>
        </p:nvSpPr>
        <p:spPr>
          <a:xfrm>
            <a:off x="6464808" y="4178808"/>
            <a:ext cx="4892040" cy="822960"/>
          </a:xfrm>
          <a:prstGeom prst="rect">
            <a:avLst/>
          </a:prstGeom>
          <a:noFill/>
          <a:ln/>
        </p:spPr>
        <p:txBody>
          <a:bodyPr wrap="square" lIns="0" tIns="0" rIns="0" bIns="0" rtlCol="0" anchor="ctr"/>
          <a:lstStyle/>
          <a:p>
            <a:pPr indent="0" marL="0">
              <a:buNone/>
            </a:pPr>
            <a:r>
              <a:rPr lang="en-US" sz="1150" dirty="0">
                <a:solidFill>
                  <a:srgbClr val="0B1220"/>
                </a:solidFill>
                <a:latin typeface="Calibri" pitchFamily="34" charset="0"/>
                <a:ea typeface="Calibri" pitchFamily="34" charset="-122"/>
                <a:cs typeface="Calibri" pitchFamily="34" charset="-120"/>
              </a:rPr>
              <a:t>Smart BESS constraint management, prioritizing clean renewable absorption before gas peakers.</a:t>
            </a:r>
            <a:endParaRPr lang="en-US" sz="1150" dirty="0"/>
          </a:p>
        </p:txBody>
      </p:sp>
      <p:sp>
        <p:nvSpPr>
          <p:cNvPr id="26" name="Shape 24"/>
          <p:cNvSpPr/>
          <p:nvPr/>
        </p:nvSpPr>
        <p:spPr>
          <a:xfrm>
            <a:off x="6464808" y="5074920"/>
            <a:ext cx="4855464" cy="347472"/>
          </a:xfrm>
          <a:prstGeom prst="roundRect">
            <a:avLst>
              <a:gd name="adj" fmla="val 10526"/>
            </a:avLst>
          </a:prstGeom>
          <a:solidFill>
            <a:srgbClr val="FFFFFF"/>
          </a:solidFill>
          <a:ln w="9525">
            <a:solidFill>
              <a:srgbClr val="C98A00"/>
            </a:solidFill>
            <a:prstDash val="solid"/>
          </a:ln>
        </p:spPr>
      </p:sp>
      <p:sp>
        <p:nvSpPr>
          <p:cNvPr id="27" name="Text 25"/>
          <p:cNvSpPr txBox="1"/>
          <p:nvPr/>
        </p:nvSpPr>
        <p:spPr>
          <a:xfrm>
            <a:off x="6464808" y="5074920"/>
            <a:ext cx="4855464" cy="347472"/>
          </a:xfrm>
          <a:prstGeom prst="rect">
            <a:avLst/>
          </a:prstGeom>
          <a:noFill/>
          <a:ln/>
        </p:spPr>
        <p:txBody>
          <a:bodyPr wrap="square" lIns="0" tIns="0" rIns="0" bIns="0" rtlCol="0" anchor="ctr"/>
          <a:lstStyle/>
          <a:p>
            <a:pPr algn="ctr" indent="0" marL="0">
              <a:buNone/>
            </a:pPr>
            <a:r>
              <a:rPr lang="en-US" sz="1000" dirty="0">
                <a:solidFill>
                  <a:srgbClr val="C98A00"/>
                </a:solidFill>
                <a:latin typeface="Courier New" pitchFamily="34" charset="0"/>
                <a:ea typeface="Courier New" pitchFamily="34" charset="-122"/>
                <a:cs typeface="Courier New" pitchFamily="34" charset="-120"/>
              </a:rPr>
              <a:t>SOC 20% - 90%  |  Renewable &gt; BESS &gt; DR &gt; Peaker</a:t>
            </a:r>
            <a:endParaRPr lang="en-US" sz="1000" dirty="0"/>
          </a:p>
        </p:txBody>
      </p:sp>
      <p:sp>
        <p:nvSpPr>
          <p:cNvPr id="28" name="Text 26"/>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5B6478"/>
                </a:solidFill>
                <a:latin typeface="Calibri" pitchFamily="34" charset="0"/>
                <a:ea typeface="Calibri" pitchFamily="34" charset="-122"/>
                <a:cs typeface="Calibri" pitchFamily="34" charset="-120"/>
              </a:rPr>
              <a:t>GRIDWISE AI  ·  TEAM OUTLIERS</a:t>
            </a:r>
            <a:endParaRPr lang="en-US" sz="900" dirty="0"/>
          </a:p>
        </p:txBody>
      </p:sp>
      <p:sp>
        <p:nvSpPr>
          <p:cNvPr id="29" name="Text 27"/>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ourier New" pitchFamily="34" charset="0"/>
                <a:ea typeface="Courier New" pitchFamily="34" charset="-122"/>
                <a:cs typeface="Courier New" pitchFamily="34" charset="-120"/>
              </a:rPr>
              <a:t>05 / 08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100" b="1" spc="200" kern="0" dirty="0">
                <a:solidFill>
                  <a:srgbClr val="007A72"/>
                </a:solidFill>
                <a:latin typeface="Courier New" pitchFamily="34" charset="0"/>
                <a:ea typeface="Courier New" pitchFamily="34" charset="-122"/>
                <a:cs typeface="Courier New" pitchFamily="34" charset="-120"/>
              </a:rPr>
              <a:t>IBM TECHNOLOGIES &amp; MCP INTEGRATION</a:t>
            </a:r>
            <a:endParaRPr lang="en-US" sz="1100" dirty="0"/>
          </a:p>
        </p:txBody>
      </p:sp>
      <p:sp>
        <p:nvSpPr>
          <p:cNvPr id="3" name="Text 1"/>
          <p:cNvSpPr txBox="1"/>
          <p:nvPr/>
        </p:nvSpPr>
        <p:spPr>
          <a:xfrm>
            <a:off x="548640" y="749808"/>
            <a:ext cx="10515600" cy="548640"/>
          </a:xfrm>
          <a:prstGeom prst="rect">
            <a:avLst/>
          </a:prstGeom>
          <a:noFill/>
          <a:ln/>
        </p:spPr>
        <p:txBody>
          <a:bodyPr wrap="square" lIns="0" tIns="0" rIns="0" bIns="0" rtlCol="0" anchor="ctr"/>
          <a:lstStyle/>
          <a:p>
            <a:pPr indent="0" marL="0">
              <a:buNone/>
            </a:pPr>
            <a:r>
              <a:rPr lang="en-US" sz="2800" b="1" dirty="0">
                <a:solidFill>
                  <a:srgbClr val="0B1220"/>
                </a:solidFill>
                <a:latin typeface="Century Schoolbook" pitchFamily="34" charset="0"/>
                <a:ea typeface="Century Schoolbook" pitchFamily="34" charset="-122"/>
                <a:cs typeface="Century Schoolbook" pitchFamily="34" charset="-120"/>
              </a:rPr>
              <a:t>Talking to the Grid Through IBM Bob</a:t>
            </a:r>
            <a:endParaRPr lang="en-US" sz="2800" dirty="0"/>
          </a:p>
        </p:txBody>
      </p:sp>
      <p:sp>
        <p:nvSpPr>
          <p:cNvPr id="4" name="Shape 2"/>
          <p:cNvSpPr/>
          <p:nvPr/>
        </p:nvSpPr>
        <p:spPr>
          <a:xfrm>
            <a:off x="548640" y="1508760"/>
            <a:ext cx="5212080" cy="5074920"/>
          </a:xfrm>
          <a:prstGeom prst="roundRect">
            <a:avLst>
              <a:gd name="adj" fmla="val 1802"/>
            </a:avLst>
          </a:prstGeom>
          <a:solidFill>
            <a:srgbClr val="F4F7FB"/>
          </a:solidFill>
          <a:ln w="12700">
            <a:solidFill>
              <a:srgbClr val="00A99D"/>
            </a:solidFill>
            <a:prstDash val="solid"/>
          </a:ln>
        </p:spPr>
      </p:sp>
      <p:sp>
        <p:nvSpPr>
          <p:cNvPr id="5" name="Text 3"/>
          <p:cNvSpPr txBox="1"/>
          <p:nvPr/>
        </p:nvSpPr>
        <p:spPr>
          <a:xfrm>
            <a:off x="822960" y="1691640"/>
            <a:ext cx="4663440" cy="320040"/>
          </a:xfrm>
          <a:prstGeom prst="rect">
            <a:avLst/>
          </a:prstGeom>
          <a:noFill/>
          <a:ln/>
        </p:spPr>
        <p:txBody>
          <a:bodyPr wrap="square" lIns="0" tIns="0" rIns="0" bIns="0" rtlCol="0" anchor="ctr"/>
          <a:lstStyle/>
          <a:p>
            <a:pPr indent="0" marL="0">
              <a:buNone/>
            </a:pPr>
            <a:r>
              <a:rPr lang="en-US" sz="1200" b="1" spc="100" kern="0" dirty="0">
                <a:solidFill>
                  <a:srgbClr val="007A72"/>
                </a:solidFill>
                <a:latin typeface="Courier New" pitchFamily="34" charset="0"/>
                <a:ea typeface="Courier New" pitchFamily="34" charset="-122"/>
                <a:cs typeface="Courier New" pitchFamily="34" charset="-120"/>
              </a:rPr>
              <a:t>ASK IBM BOB</a:t>
            </a:r>
            <a:endParaRPr lang="en-US" sz="1200" dirty="0"/>
          </a:p>
        </p:txBody>
      </p:sp>
      <p:sp>
        <p:nvSpPr>
          <p:cNvPr id="6" name="Shape 4"/>
          <p:cNvSpPr/>
          <p:nvPr/>
        </p:nvSpPr>
        <p:spPr>
          <a:xfrm>
            <a:off x="822960" y="2148840"/>
            <a:ext cx="4206240" cy="685800"/>
          </a:xfrm>
          <a:prstGeom prst="roundRect">
            <a:avLst>
              <a:gd name="adj" fmla="val 10667"/>
            </a:avLst>
          </a:prstGeom>
          <a:solidFill>
            <a:srgbClr val="E4EAF3"/>
          </a:solidFill>
          <a:ln/>
        </p:spPr>
      </p:sp>
      <p:sp>
        <p:nvSpPr>
          <p:cNvPr id="7" name="Text 5"/>
          <p:cNvSpPr txBox="1"/>
          <p:nvPr/>
        </p:nvSpPr>
        <p:spPr>
          <a:xfrm>
            <a:off x="960120" y="2148840"/>
            <a:ext cx="3931920" cy="685800"/>
          </a:xfrm>
          <a:prstGeom prst="rect">
            <a:avLst/>
          </a:prstGeom>
          <a:noFill/>
          <a:ln/>
        </p:spPr>
        <p:txBody>
          <a:bodyPr wrap="square" lIns="0" tIns="0" rIns="0" bIns="0" rtlCol="0" anchor="ctr"/>
          <a:lstStyle/>
          <a:p>
            <a:pPr indent="0" marL="0">
              <a:buNone/>
            </a:pPr>
            <a:r>
              <a:rPr lang="en-US" sz="1150" i="1" dirty="0">
                <a:solidFill>
                  <a:srgbClr val="0B1220"/>
                </a:solidFill>
                <a:latin typeface="Calibri" pitchFamily="34" charset="0"/>
                <a:ea typeface="Calibri" pitchFamily="34" charset="-122"/>
                <a:cs typeface="Calibri" pitchFamily="34" charset="-120"/>
              </a:rPr>
              <a:t>Operator: “Why did Wind Farm 3 output drop at 2 PM?”</a:t>
            </a:r>
            <a:endParaRPr lang="en-US" sz="1150" dirty="0"/>
          </a:p>
        </p:txBody>
      </p:sp>
      <p:sp>
        <p:nvSpPr>
          <p:cNvPr id="8" name="Shape 6"/>
          <p:cNvSpPr/>
          <p:nvPr/>
        </p:nvSpPr>
        <p:spPr>
          <a:xfrm>
            <a:off x="1005840" y="3017520"/>
            <a:ext cx="4206240" cy="3017520"/>
          </a:xfrm>
          <a:prstGeom prst="roundRect">
            <a:avLst>
              <a:gd name="adj" fmla="val 2424"/>
            </a:avLst>
          </a:prstGeom>
          <a:solidFill>
            <a:srgbClr val="E9F7EF"/>
          </a:solidFill>
          <a:ln w="9525">
            <a:solidFill>
              <a:srgbClr val="108A56"/>
            </a:solidFill>
            <a:prstDash val="solid"/>
          </a:ln>
        </p:spPr>
      </p:sp>
      <p:sp>
        <p:nvSpPr>
          <p:cNvPr id="9" name="Text 7"/>
          <p:cNvSpPr txBox="1"/>
          <p:nvPr/>
        </p:nvSpPr>
        <p:spPr>
          <a:xfrm>
            <a:off x="1170432" y="3200400"/>
            <a:ext cx="3840480" cy="2697480"/>
          </a:xfrm>
          <a:prstGeom prst="rect">
            <a:avLst/>
          </a:prstGeom>
          <a:noFill/>
          <a:ln/>
        </p:spPr>
        <p:txBody>
          <a:bodyPr wrap="square" lIns="0" tIns="0" rIns="0" bIns="0" rtlCol="0" anchor="t"/>
          <a:lstStyle/>
          <a:p>
            <a:pPr indent="0" marL="0">
              <a:spcAft>
                <a:spcPts val="600"/>
              </a:spcAft>
              <a:buNone/>
            </a:pPr>
            <a:r>
              <a:rPr lang="en-US" sz="1150" b="1" dirty="0">
                <a:solidFill>
                  <a:srgbClr val="108A56"/>
                </a:solidFill>
                <a:latin typeface="Calibri" pitchFamily="34" charset="0"/>
                <a:ea typeface="Calibri" pitchFamily="34" charset="-122"/>
                <a:cs typeface="Calibri" pitchFamily="34" charset="-120"/>
              </a:rPr>
              <a:t>IBM Bob:
</a:t>
            </a:r>
            <a:endParaRPr lang="en-US" sz="1150" dirty="0"/>
          </a:p>
          <a:p>
            <a:pPr indent="0" marL="0">
              <a:spcAft>
                <a:spcPts val="600"/>
              </a:spcAft>
              <a:buNone/>
            </a:pPr>
            <a:r>
              <a:rPr lang="en-US" sz="1150" dirty="0">
                <a:solidFill>
                  <a:srgbClr val="0B1220"/>
                </a:solidFill>
                <a:latin typeface="Calibri" pitchFamily="34" charset="0"/>
                <a:ea typeface="Calibri" pitchFamily="34" charset="-122"/>
                <a:cs typeface="Calibri" pitchFamily="34" charset="-120"/>
              </a:rPr>
              <a:t>Wind Farm 3 output dropped 34% at 14:00 </a:t>
            </a:r>
            <a:pPr indent="0" marL="0">
              <a:spcAft>
                <a:spcPts val="600"/>
              </a:spcAft>
              <a:buNone/>
            </a:pPr>
            <a:r>
              <a:rPr lang="en-US" sz="1150" b="1" dirty="0">
                <a:solidFill>
                  <a:srgbClr val="007A72"/>
                </a:solidFill>
                <a:latin typeface="Calibri" pitchFamily="34" charset="0"/>
                <a:ea typeface="Calibri" pitchFamily="34" charset="-122"/>
                <a:cs typeface="Calibri" pitchFamily="34" charset="-120"/>
              </a:rPr>
              <a:t>[MEASURED]</a:t>
            </a:r>
            <a:endParaRPr lang="en-US" sz="1150" dirty="0"/>
          </a:p>
          <a:p>
            <a:pPr indent="0" marL="0">
              <a:spcAft>
                <a:spcPts val="600"/>
              </a:spcAft>
              <a:buNone/>
            </a:pPr>
            <a:r>
              <a:rPr lang="en-US" sz="1150" dirty="0">
                <a:solidFill>
                  <a:srgbClr val="0B1220"/>
                </a:solidFill>
                <a:latin typeface="Calibri" pitchFamily="34" charset="0"/>
                <a:ea typeface="Calibri" pitchFamily="34" charset="-122"/>
                <a:cs typeface="Calibri" pitchFamily="34" charset="-120"/>
              </a:rPr>
              <a:t>Physics model expected only an 8% drop given wind speed </a:t>
            </a:r>
            <a:pPr indent="0" marL="0">
              <a:spcAft>
                <a:spcPts val="600"/>
              </a:spcAft>
              <a:buNone/>
            </a:pPr>
            <a:r>
              <a:rPr lang="en-US" sz="1150" b="1" dirty="0">
                <a:solidFill>
                  <a:srgbClr val="C98A00"/>
                </a:solidFill>
                <a:latin typeface="Calibri" pitchFamily="34" charset="0"/>
                <a:ea typeface="Calibri" pitchFamily="34" charset="-122"/>
                <a:cs typeface="Calibri" pitchFamily="34" charset="-120"/>
              </a:rPr>
              <a:t>[ML MODEL]</a:t>
            </a:r>
            <a:endParaRPr lang="en-US" sz="1150" dirty="0"/>
          </a:p>
          <a:p>
            <a:pPr indent="0" marL="0">
              <a:spcAft>
                <a:spcPts val="600"/>
              </a:spcAft>
              <a:buNone/>
            </a:pPr>
            <a:r>
              <a:rPr lang="en-US" sz="1150" dirty="0">
                <a:solidFill>
                  <a:srgbClr val="0B1220"/>
                </a:solidFill>
                <a:latin typeface="Calibri" pitchFamily="34" charset="0"/>
                <a:ea typeface="Calibri" pitchFamily="34" charset="-122"/>
                <a:cs typeface="Calibri" pitchFamily="34" charset="-120"/>
              </a:rPr>
              <a:t>RCA confidence: 91% mechanical — likely blade icing </a:t>
            </a:r>
            <a:pPr indent="0" marL="0">
              <a:spcAft>
                <a:spcPts val="600"/>
              </a:spcAft>
              <a:buNone/>
            </a:pPr>
            <a:r>
              <a:rPr lang="en-US" sz="1150" b="1" dirty="0">
                <a:solidFill>
                  <a:srgbClr val="D8264A"/>
                </a:solidFill>
                <a:latin typeface="Calibri" pitchFamily="34" charset="0"/>
                <a:ea typeface="Calibri" pitchFamily="34" charset="-122"/>
                <a:cs typeface="Calibri" pitchFamily="34" charset="-120"/>
              </a:rPr>
              <a:t>[ANOMALY]</a:t>
            </a:r>
            <a:endParaRPr lang="en-US" sz="1150" dirty="0"/>
          </a:p>
          <a:p>
            <a:pPr indent="0" marL="0">
              <a:spcAft>
                <a:spcPts val="600"/>
              </a:spcAft>
              <a:buNone/>
            </a:pPr>
            <a:r>
              <a:rPr lang="en-US" sz="1150" dirty="0">
                <a:solidFill>
                  <a:srgbClr val="0B1220"/>
                </a:solidFill>
                <a:latin typeface="Calibri" pitchFamily="34" charset="0"/>
                <a:ea typeface="Calibri" pitchFamily="34" charset="-122"/>
                <a:cs typeface="Calibri" pitchFamily="34" charset="-120"/>
              </a:rPr>
              <a:t>Recommend inspection </a:t>
            </a:r>
            <a:pPr indent="0" marL="0">
              <a:spcAft>
                <a:spcPts val="600"/>
              </a:spcAft>
              <a:buNone/>
            </a:pPr>
            <a:r>
              <a:rPr lang="en-US" sz="1150" b="1" dirty="0">
                <a:solidFill>
                  <a:srgbClr val="108A56"/>
                </a:solidFill>
                <a:latin typeface="Calibri" pitchFamily="34" charset="0"/>
                <a:ea typeface="Calibri" pitchFamily="34" charset="-122"/>
                <a:cs typeface="Calibri" pitchFamily="34" charset="-120"/>
              </a:rPr>
              <a:t>[RULE]</a:t>
            </a:r>
            <a:endParaRPr lang="en-US" sz="1150" dirty="0"/>
          </a:p>
        </p:txBody>
      </p:sp>
      <p:sp>
        <p:nvSpPr>
          <p:cNvPr id="10" name="Text 8"/>
          <p:cNvSpPr txBox="1"/>
          <p:nvPr/>
        </p:nvSpPr>
        <p:spPr>
          <a:xfrm>
            <a:off x="6035040" y="1508760"/>
            <a:ext cx="5577840" cy="274320"/>
          </a:xfrm>
          <a:prstGeom prst="rect">
            <a:avLst/>
          </a:prstGeom>
          <a:noFill/>
          <a:ln/>
        </p:spPr>
        <p:txBody>
          <a:bodyPr wrap="square" lIns="0" tIns="0" rIns="0" bIns="0" rtlCol="0" anchor="ctr"/>
          <a:lstStyle/>
          <a:p>
            <a:pPr indent="0" marL="0">
              <a:buNone/>
            </a:pPr>
            <a:r>
              <a:rPr lang="en-US" sz="1200" b="1" spc="100" kern="0" dirty="0">
                <a:solidFill>
                  <a:srgbClr val="C98A00"/>
                </a:solidFill>
                <a:latin typeface="Courier New" pitchFamily="34" charset="0"/>
                <a:ea typeface="Courier New" pitchFamily="34" charset="-122"/>
                <a:cs typeface="Courier New" pitchFamily="34" charset="-120"/>
              </a:rPr>
              <a:t>IBM BOB AI ASSISTANT</a:t>
            </a:r>
            <a:endParaRPr lang="en-US" sz="1200" dirty="0"/>
          </a:p>
        </p:txBody>
      </p:sp>
      <p:sp>
        <p:nvSpPr>
          <p:cNvPr id="11" name="Text 9"/>
          <p:cNvSpPr txBox="1"/>
          <p:nvPr/>
        </p:nvSpPr>
        <p:spPr>
          <a:xfrm>
            <a:off x="6035040" y="1801368"/>
            <a:ext cx="5577840" cy="45720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Conversational operator co-pilot delivering verified briefings — zero fabricated numbers.</a:t>
            </a:r>
            <a:endParaRPr lang="en-US" sz="1100" dirty="0"/>
          </a:p>
        </p:txBody>
      </p:sp>
      <p:sp>
        <p:nvSpPr>
          <p:cNvPr id="12" name="Text 10"/>
          <p:cNvSpPr txBox="1"/>
          <p:nvPr/>
        </p:nvSpPr>
        <p:spPr>
          <a:xfrm>
            <a:off x="6035040" y="2377440"/>
            <a:ext cx="5577840" cy="274320"/>
          </a:xfrm>
          <a:prstGeom prst="rect">
            <a:avLst/>
          </a:prstGeom>
          <a:noFill/>
          <a:ln/>
        </p:spPr>
        <p:txBody>
          <a:bodyPr wrap="square" lIns="0" tIns="0" rIns="0" bIns="0" rtlCol="0" anchor="ctr"/>
          <a:lstStyle/>
          <a:p>
            <a:pPr indent="0" marL="0">
              <a:buNone/>
            </a:pPr>
            <a:r>
              <a:rPr lang="en-US" sz="1200" b="1" spc="100" kern="0" dirty="0">
                <a:solidFill>
                  <a:srgbClr val="C98A00"/>
                </a:solidFill>
                <a:latin typeface="Courier New" pitchFamily="34" charset="0"/>
                <a:ea typeface="Courier New" pitchFamily="34" charset="-122"/>
                <a:cs typeface="Courier New" pitchFamily="34" charset="-120"/>
              </a:rPr>
              <a:t>CUSTOM TYPESCRIPT MCP SERVER — 9 NATIVE TOOLS</a:t>
            </a:r>
            <a:endParaRPr lang="en-US" sz="1200" dirty="0"/>
          </a:p>
        </p:txBody>
      </p:sp>
      <p:sp>
        <p:nvSpPr>
          <p:cNvPr id="13" name="Shape 11"/>
          <p:cNvSpPr/>
          <p:nvPr/>
        </p:nvSpPr>
        <p:spPr>
          <a:xfrm>
            <a:off x="6035040" y="2743200"/>
            <a:ext cx="2697480" cy="384048"/>
          </a:xfrm>
          <a:prstGeom prst="roundRect">
            <a:avLst>
              <a:gd name="adj" fmla="val 11905"/>
            </a:avLst>
          </a:prstGeom>
          <a:solidFill>
            <a:srgbClr val="F4F7FB"/>
          </a:solidFill>
          <a:ln w="9525">
            <a:solidFill>
              <a:srgbClr val="E2E8F0"/>
            </a:solidFill>
            <a:prstDash val="solid"/>
          </a:ln>
        </p:spPr>
      </p:sp>
      <p:sp>
        <p:nvSpPr>
          <p:cNvPr id="14" name="Text 12"/>
          <p:cNvSpPr txBox="1"/>
          <p:nvPr/>
        </p:nvSpPr>
        <p:spPr>
          <a:xfrm>
            <a:off x="6035040" y="2743200"/>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get_grid_summary</a:t>
            </a:r>
            <a:endParaRPr lang="en-US" sz="950" dirty="0"/>
          </a:p>
        </p:txBody>
      </p:sp>
      <p:sp>
        <p:nvSpPr>
          <p:cNvPr id="15" name="Shape 13"/>
          <p:cNvSpPr/>
          <p:nvPr/>
        </p:nvSpPr>
        <p:spPr>
          <a:xfrm>
            <a:off x="8915400" y="2743200"/>
            <a:ext cx="2697480" cy="384048"/>
          </a:xfrm>
          <a:prstGeom prst="roundRect">
            <a:avLst>
              <a:gd name="adj" fmla="val 11905"/>
            </a:avLst>
          </a:prstGeom>
          <a:solidFill>
            <a:srgbClr val="F4F7FB"/>
          </a:solidFill>
          <a:ln w="9525">
            <a:solidFill>
              <a:srgbClr val="E2E8F0"/>
            </a:solidFill>
            <a:prstDash val="solid"/>
          </a:ln>
        </p:spPr>
      </p:sp>
      <p:sp>
        <p:nvSpPr>
          <p:cNvPr id="16" name="Text 14"/>
          <p:cNvSpPr txBox="1"/>
          <p:nvPr/>
        </p:nvSpPr>
        <p:spPr>
          <a:xfrm>
            <a:off x="8915400" y="2743200"/>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get_load_forecast</a:t>
            </a:r>
            <a:endParaRPr lang="en-US" sz="950" dirty="0"/>
          </a:p>
        </p:txBody>
      </p:sp>
      <p:sp>
        <p:nvSpPr>
          <p:cNvPr id="17" name="Shape 15"/>
          <p:cNvSpPr/>
          <p:nvPr/>
        </p:nvSpPr>
        <p:spPr>
          <a:xfrm>
            <a:off x="6035040" y="3218688"/>
            <a:ext cx="2697480" cy="384048"/>
          </a:xfrm>
          <a:prstGeom prst="roundRect">
            <a:avLst>
              <a:gd name="adj" fmla="val 11905"/>
            </a:avLst>
          </a:prstGeom>
          <a:solidFill>
            <a:srgbClr val="F4F7FB"/>
          </a:solidFill>
          <a:ln w="9525">
            <a:solidFill>
              <a:srgbClr val="E2E8F0"/>
            </a:solidFill>
            <a:prstDash val="solid"/>
          </a:ln>
        </p:spPr>
      </p:sp>
      <p:sp>
        <p:nvSpPr>
          <p:cNvPr id="18" name="Text 16"/>
          <p:cNvSpPr txBox="1"/>
          <p:nvPr/>
        </p:nvSpPr>
        <p:spPr>
          <a:xfrm>
            <a:off x="6035040" y="3218688"/>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get_anomalies</a:t>
            </a:r>
            <a:endParaRPr lang="en-US" sz="950" dirty="0"/>
          </a:p>
        </p:txBody>
      </p:sp>
      <p:sp>
        <p:nvSpPr>
          <p:cNvPr id="19" name="Shape 17"/>
          <p:cNvSpPr/>
          <p:nvPr/>
        </p:nvSpPr>
        <p:spPr>
          <a:xfrm>
            <a:off x="8915400" y="3218688"/>
            <a:ext cx="2697480" cy="384048"/>
          </a:xfrm>
          <a:prstGeom prst="roundRect">
            <a:avLst>
              <a:gd name="adj" fmla="val 11905"/>
            </a:avLst>
          </a:prstGeom>
          <a:solidFill>
            <a:srgbClr val="F4F7FB"/>
          </a:solidFill>
          <a:ln w="9525">
            <a:solidFill>
              <a:srgbClr val="E2E8F0"/>
            </a:solidFill>
            <a:prstDash val="solid"/>
          </a:ln>
        </p:spPr>
      </p:sp>
      <p:sp>
        <p:nvSpPr>
          <p:cNvPr id="20" name="Text 18"/>
          <p:cNvSpPr txBox="1"/>
          <p:nvPr/>
        </p:nvSpPr>
        <p:spPr>
          <a:xfrm>
            <a:off x="8915400" y="3218688"/>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get_asset_rca</a:t>
            </a:r>
            <a:endParaRPr lang="en-US" sz="950" dirty="0"/>
          </a:p>
        </p:txBody>
      </p:sp>
      <p:sp>
        <p:nvSpPr>
          <p:cNvPr id="21" name="Shape 19"/>
          <p:cNvSpPr/>
          <p:nvPr/>
        </p:nvSpPr>
        <p:spPr>
          <a:xfrm>
            <a:off x="6035040" y="3694176"/>
            <a:ext cx="2697480" cy="384048"/>
          </a:xfrm>
          <a:prstGeom prst="roundRect">
            <a:avLst>
              <a:gd name="adj" fmla="val 11905"/>
            </a:avLst>
          </a:prstGeom>
          <a:solidFill>
            <a:srgbClr val="F4F7FB"/>
          </a:solidFill>
          <a:ln w="9525">
            <a:solidFill>
              <a:srgbClr val="E2E8F0"/>
            </a:solidFill>
            <a:prstDash val="solid"/>
          </a:ln>
        </p:spPr>
      </p:sp>
      <p:sp>
        <p:nvSpPr>
          <p:cNvPr id="22" name="Text 20"/>
          <p:cNvSpPr txBox="1"/>
          <p:nvPr/>
        </p:nvSpPr>
        <p:spPr>
          <a:xfrm>
            <a:off x="6035040" y="3694176"/>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get_balancing_recommendations</a:t>
            </a:r>
            <a:endParaRPr lang="en-US" sz="950" dirty="0"/>
          </a:p>
        </p:txBody>
      </p:sp>
      <p:sp>
        <p:nvSpPr>
          <p:cNvPr id="23" name="Shape 21"/>
          <p:cNvSpPr/>
          <p:nvPr/>
        </p:nvSpPr>
        <p:spPr>
          <a:xfrm>
            <a:off x="8915400" y="3694176"/>
            <a:ext cx="2697480" cy="384048"/>
          </a:xfrm>
          <a:prstGeom prst="roundRect">
            <a:avLst>
              <a:gd name="adj" fmla="val 11905"/>
            </a:avLst>
          </a:prstGeom>
          <a:solidFill>
            <a:srgbClr val="F4F7FB"/>
          </a:solidFill>
          <a:ln w="9525">
            <a:solidFill>
              <a:srgbClr val="E2E8F0"/>
            </a:solidFill>
            <a:prstDash val="solid"/>
          </a:ln>
        </p:spPr>
      </p:sp>
      <p:sp>
        <p:nvSpPr>
          <p:cNvPr id="24" name="Text 22"/>
          <p:cNvSpPr txBox="1"/>
          <p:nvPr/>
        </p:nvSpPr>
        <p:spPr>
          <a:xfrm>
            <a:off x="8915400" y="3694176"/>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get_operator_brief</a:t>
            </a:r>
            <a:endParaRPr lang="en-US" sz="950" dirty="0"/>
          </a:p>
        </p:txBody>
      </p:sp>
      <p:sp>
        <p:nvSpPr>
          <p:cNvPr id="25" name="Shape 23"/>
          <p:cNvSpPr/>
          <p:nvPr/>
        </p:nvSpPr>
        <p:spPr>
          <a:xfrm>
            <a:off x="6035040" y="4169664"/>
            <a:ext cx="2697480" cy="384048"/>
          </a:xfrm>
          <a:prstGeom prst="roundRect">
            <a:avLst>
              <a:gd name="adj" fmla="val 11905"/>
            </a:avLst>
          </a:prstGeom>
          <a:solidFill>
            <a:srgbClr val="F4F7FB"/>
          </a:solidFill>
          <a:ln w="9525">
            <a:solidFill>
              <a:srgbClr val="E2E8F0"/>
            </a:solidFill>
            <a:prstDash val="solid"/>
          </a:ln>
        </p:spPr>
      </p:sp>
      <p:sp>
        <p:nvSpPr>
          <p:cNvPr id="26" name="Text 24"/>
          <p:cNvSpPr txBox="1"/>
          <p:nvPr/>
        </p:nvSpPr>
        <p:spPr>
          <a:xfrm>
            <a:off x="6035040" y="4169664"/>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explain_anomaly</a:t>
            </a:r>
            <a:endParaRPr lang="en-US" sz="950" dirty="0"/>
          </a:p>
        </p:txBody>
      </p:sp>
      <p:sp>
        <p:nvSpPr>
          <p:cNvPr id="27" name="Shape 25"/>
          <p:cNvSpPr/>
          <p:nvPr/>
        </p:nvSpPr>
        <p:spPr>
          <a:xfrm>
            <a:off x="8915400" y="4169664"/>
            <a:ext cx="2697480" cy="384048"/>
          </a:xfrm>
          <a:prstGeom prst="roundRect">
            <a:avLst>
              <a:gd name="adj" fmla="val 11905"/>
            </a:avLst>
          </a:prstGeom>
          <a:solidFill>
            <a:srgbClr val="F4F7FB"/>
          </a:solidFill>
          <a:ln w="9525">
            <a:solidFill>
              <a:srgbClr val="E2E8F0"/>
            </a:solidFill>
            <a:prstDash val="solid"/>
          </a:ln>
        </p:spPr>
      </p:sp>
      <p:sp>
        <p:nvSpPr>
          <p:cNvPr id="28" name="Text 26"/>
          <p:cNvSpPr txBox="1"/>
          <p:nvPr/>
        </p:nvSpPr>
        <p:spPr>
          <a:xfrm>
            <a:off x="8915400" y="4169664"/>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what_if_analysis</a:t>
            </a:r>
            <a:endParaRPr lang="en-US" sz="950" dirty="0"/>
          </a:p>
        </p:txBody>
      </p:sp>
      <p:sp>
        <p:nvSpPr>
          <p:cNvPr id="29" name="Shape 27"/>
          <p:cNvSpPr/>
          <p:nvPr/>
        </p:nvSpPr>
        <p:spPr>
          <a:xfrm>
            <a:off x="6035040" y="4645152"/>
            <a:ext cx="2697480" cy="384048"/>
          </a:xfrm>
          <a:prstGeom prst="roundRect">
            <a:avLst>
              <a:gd name="adj" fmla="val 11905"/>
            </a:avLst>
          </a:prstGeom>
          <a:solidFill>
            <a:srgbClr val="F4F7FB"/>
          </a:solidFill>
          <a:ln w="9525">
            <a:solidFill>
              <a:srgbClr val="E2E8F0"/>
            </a:solidFill>
            <a:prstDash val="solid"/>
          </a:ln>
        </p:spPr>
      </p:sp>
      <p:sp>
        <p:nvSpPr>
          <p:cNvPr id="30" name="Text 28"/>
          <p:cNvSpPr txBox="1"/>
          <p:nvPr/>
        </p:nvSpPr>
        <p:spPr>
          <a:xfrm>
            <a:off x="6035040" y="4645152"/>
            <a:ext cx="2697480" cy="384048"/>
          </a:xfrm>
          <a:prstGeom prst="rect">
            <a:avLst/>
          </a:prstGeom>
          <a:noFill/>
          <a:ln/>
        </p:spPr>
        <p:txBody>
          <a:bodyPr wrap="square" lIns="0" tIns="0" rIns="0" bIns="0" rtlCol="0" anchor="ctr"/>
          <a:lstStyle/>
          <a:p>
            <a:pPr algn="ctr" indent="0" marL="0">
              <a:buNone/>
            </a:pPr>
            <a:r>
              <a:rPr lang="en-US" sz="950" dirty="0">
                <a:solidFill>
                  <a:srgbClr val="007A72"/>
                </a:solidFill>
                <a:latin typeface="Courier New" pitchFamily="34" charset="0"/>
                <a:ea typeface="Courier New" pitchFamily="34" charset="-122"/>
                <a:cs typeface="Courier New" pitchFamily="34" charset="-120"/>
              </a:rPr>
              <a:t>health_check</a:t>
            </a:r>
            <a:endParaRPr lang="en-US" sz="950" dirty="0"/>
          </a:p>
        </p:txBody>
      </p:sp>
      <p:sp>
        <p:nvSpPr>
          <p:cNvPr id="31" name="Text 29"/>
          <p:cNvSpPr txBox="1"/>
          <p:nvPr/>
        </p:nvSpPr>
        <p:spPr>
          <a:xfrm>
            <a:off x="6035040" y="5257800"/>
            <a:ext cx="5577840" cy="274320"/>
          </a:xfrm>
          <a:prstGeom prst="rect">
            <a:avLst/>
          </a:prstGeom>
          <a:noFill/>
          <a:ln/>
        </p:spPr>
        <p:txBody>
          <a:bodyPr wrap="square" lIns="0" tIns="0" rIns="0" bIns="0" rtlCol="0" anchor="ctr"/>
          <a:lstStyle/>
          <a:p>
            <a:pPr indent="0" marL="0">
              <a:buNone/>
            </a:pPr>
            <a:r>
              <a:rPr lang="en-US" sz="1200" b="1" spc="100" kern="0" dirty="0">
                <a:solidFill>
                  <a:srgbClr val="C98A00"/>
                </a:solidFill>
                <a:latin typeface="Courier New" pitchFamily="34" charset="0"/>
                <a:ea typeface="Courier New" pitchFamily="34" charset="-122"/>
                <a:cs typeface="Courier New" pitchFamily="34" charset="-120"/>
              </a:rPr>
              <a:t>EVIDENCE-BASED CITATION SYSTEM</a:t>
            </a:r>
            <a:endParaRPr lang="en-US" sz="1200" dirty="0"/>
          </a:p>
        </p:txBody>
      </p:sp>
      <p:sp>
        <p:nvSpPr>
          <p:cNvPr id="32" name="Shape 30"/>
          <p:cNvSpPr/>
          <p:nvPr/>
        </p:nvSpPr>
        <p:spPr>
          <a:xfrm>
            <a:off x="6035040" y="5577840"/>
            <a:ext cx="1325880" cy="365760"/>
          </a:xfrm>
          <a:prstGeom prst="roundRect">
            <a:avLst>
              <a:gd name="adj" fmla="val 50000"/>
            </a:avLst>
          </a:prstGeom>
          <a:solidFill>
            <a:srgbClr val="FFFFFF"/>
          </a:solidFill>
          <a:ln w="12700">
            <a:solidFill>
              <a:srgbClr val="007A72"/>
            </a:solidFill>
            <a:prstDash val="solid"/>
          </a:ln>
        </p:spPr>
      </p:sp>
      <p:sp>
        <p:nvSpPr>
          <p:cNvPr id="33" name="Text 31"/>
          <p:cNvSpPr txBox="1"/>
          <p:nvPr/>
        </p:nvSpPr>
        <p:spPr>
          <a:xfrm>
            <a:off x="6035040" y="5577840"/>
            <a:ext cx="1325880" cy="365760"/>
          </a:xfrm>
          <a:prstGeom prst="rect">
            <a:avLst/>
          </a:prstGeom>
          <a:noFill/>
          <a:ln/>
        </p:spPr>
        <p:txBody>
          <a:bodyPr wrap="square" lIns="0" tIns="0" rIns="0" bIns="0" rtlCol="0" anchor="ctr"/>
          <a:lstStyle/>
          <a:p>
            <a:pPr algn="ctr" indent="0" marL="0">
              <a:buNone/>
            </a:pPr>
            <a:r>
              <a:rPr lang="en-US" sz="850" b="1" dirty="0">
                <a:solidFill>
                  <a:srgbClr val="007A72"/>
                </a:solidFill>
                <a:latin typeface="Courier New" pitchFamily="34" charset="0"/>
                <a:ea typeface="Courier New" pitchFamily="34" charset="-122"/>
                <a:cs typeface="Courier New" pitchFamily="34" charset="-120"/>
              </a:rPr>
              <a:t>[MEASURED]</a:t>
            </a:r>
            <a:endParaRPr lang="en-US" sz="850" dirty="0"/>
          </a:p>
        </p:txBody>
      </p:sp>
      <p:sp>
        <p:nvSpPr>
          <p:cNvPr id="34" name="Shape 32"/>
          <p:cNvSpPr/>
          <p:nvPr/>
        </p:nvSpPr>
        <p:spPr>
          <a:xfrm>
            <a:off x="7452360" y="5577840"/>
            <a:ext cx="1325880" cy="365760"/>
          </a:xfrm>
          <a:prstGeom prst="roundRect">
            <a:avLst>
              <a:gd name="adj" fmla="val 50000"/>
            </a:avLst>
          </a:prstGeom>
          <a:solidFill>
            <a:srgbClr val="FFFFFF"/>
          </a:solidFill>
          <a:ln w="12700">
            <a:solidFill>
              <a:srgbClr val="C98A00"/>
            </a:solidFill>
            <a:prstDash val="solid"/>
          </a:ln>
        </p:spPr>
      </p:sp>
      <p:sp>
        <p:nvSpPr>
          <p:cNvPr id="35" name="Text 33"/>
          <p:cNvSpPr txBox="1"/>
          <p:nvPr/>
        </p:nvSpPr>
        <p:spPr>
          <a:xfrm>
            <a:off x="7452360" y="5577840"/>
            <a:ext cx="1325880" cy="365760"/>
          </a:xfrm>
          <a:prstGeom prst="rect">
            <a:avLst/>
          </a:prstGeom>
          <a:noFill/>
          <a:ln/>
        </p:spPr>
        <p:txBody>
          <a:bodyPr wrap="square" lIns="0" tIns="0" rIns="0" bIns="0" rtlCol="0" anchor="ctr"/>
          <a:lstStyle/>
          <a:p>
            <a:pPr algn="ctr" indent="0" marL="0">
              <a:buNone/>
            </a:pPr>
            <a:r>
              <a:rPr lang="en-US" sz="850" b="1" dirty="0">
                <a:solidFill>
                  <a:srgbClr val="C98A00"/>
                </a:solidFill>
                <a:latin typeface="Courier New" pitchFamily="34" charset="0"/>
                <a:ea typeface="Courier New" pitchFamily="34" charset="-122"/>
                <a:cs typeface="Courier New" pitchFamily="34" charset="-120"/>
              </a:rPr>
              <a:t>[ML MODEL]</a:t>
            </a:r>
            <a:endParaRPr lang="en-US" sz="850" dirty="0"/>
          </a:p>
        </p:txBody>
      </p:sp>
      <p:sp>
        <p:nvSpPr>
          <p:cNvPr id="36" name="Shape 34"/>
          <p:cNvSpPr/>
          <p:nvPr/>
        </p:nvSpPr>
        <p:spPr>
          <a:xfrm>
            <a:off x="8869680" y="5577840"/>
            <a:ext cx="1325880" cy="365760"/>
          </a:xfrm>
          <a:prstGeom prst="roundRect">
            <a:avLst>
              <a:gd name="adj" fmla="val 50000"/>
            </a:avLst>
          </a:prstGeom>
          <a:solidFill>
            <a:srgbClr val="FFFFFF"/>
          </a:solidFill>
          <a:ln w="12700">
            <a:solidFill>
              <a:srgbClr val="108A56"/>
            </a:solidFill>
            <a:prstDash val="solid"/>
          </a:ln>
        </p:spPr>
      </p:sp>
      <p:sp>
        <p:nvSpPr>
          <p:cNvPr id="37" name="Text 35"/>
          <p:cNvSpPr txBox="1"/>
          <p:nvPr/>
        </p:nvSpPr>
        <p:spPr>
          <a:xfrm>
            <a:off x="8869680" y="5577840"/>
            <a:ext cx="1325880" cy="365760"/>
          </a:xfrm>
          <a:prstGeom prst="rect">
            <a:avLst/>
          </a:prstGeom>
          <a:noFill/>
          <a:ln/>
        </p:spPr>
        <p:txBody>
          <a:bodyPr wrap="square" lIns="0" tIns="0" rIns="0" bIns="0" rtlCol="0" anchor="ctr"/>
          <a:lstStyle/>
          <a:p>
            <a:pPr algn="ctr" indent="0" marL="0">
              <a:buNone/>
            </a:pPr>
            <a:r>
              <a:rPr lang="en-US" sz="850" b="1" dirty="0">
                <a:solidFill>
                  <a:srgbClr val="108A56"/>
                </a:solidFill>
                <a:latin typeface="Courier New" pitchFamily="34" charset="0"/>
                <a:ea typeface="Courier New" pitchFamily="34" charset="-122"/>
                <a:cs typeface="Courier New" pitchFamily="34" charset="-120"/>
              </a:rPr>
              <a:t>[RULE]</a:t>
            </a:r>
            <a:endParaRPr lang="en-US" sz="850" dirty="0"/>
          </a:p>
        </p:txBody>
      </p:sp>
      <p:sp>
        <p:nvSpPr>
          <p:cNvPr id="38" name="Shape 36"/>
          <p:cNvSpPr/>
          <p:nvPr/>
        </p:nvSpPr>
        <p:spPr>
          <a:xfrm>
            <a:off x="10287000" y="5577840"/>
            <a:ext cx="1325880" cy="365760"/>
          </a:xfrm>
          <a:prstGeom prst="roundRect">
            <a:avLst>
              <a:gd name="adj" fmla="val 50000"/>
            </a:avLst>
          </a:prstGeom>
          <a:solidFill>
            <a:srgbClr val="FFFFFF"/>
          </a:solidFill>
          <a:ln w="12700">
            <a:solidFill>
              <a:srgbClr val="D8264A"/>
            </a:solidFill>
            <a:prstDash val="solid"/>
          </a:ln>
        </p:spPr>
      </p:sp>
      <p:sp>
        <p:nvSpPr>
          <p:cNvPr id="39" name="Text 37"/>
          <p:cNvSpPr txBox="1"/>
          <p:nvPr/>
        </p:nvSpPr>
        <p:spPr>
          <a:xfrm>
            <a:off x="10287000" y="5577840"/>
            <a:ext cx="1325880" cy="365760"/>
          </a:xfrm>
          <a:prstGeom prst="rect">
            <a:avLst/>
          </a:prstGeom>
          <a:noFill/>
          <a:ln/>
        </p:spPr>
        <p:txBody>
          <a:bodyPr wrap="square" lIns="0" tIns="0" rIns="0" bIns="0" rtlCol="0" anchor="ctr"/>
          <a:lstStyle/>
          <a:p>
            <a:pPr algn="ctr" indent="0" marL="0">
              <a:buNone/>
            </a:pPr>
            <a:r>
              <a:rPr lang="en-US" sz="850" b="1" dirty="0">
                <a:solidFill>
                  <a:srgbClr val="D8264A"/>
                </a:solidFill>
                <a:latin typeface="Courier New" pitchFamily="34" charset="0"/>
                <a:ea typeface="Courier New" pitchFamily="34" charset="-122"/>
                <a:cs typeface="Courier New" pitchFamily="34" charset="-120"/>
              </a:rPr>
              <a:t>[ANOMALY]</a:t>
            </a:r>
            <a:endParaRPr lang="en-US" sz="850" dirty="0"/>
          </a:p>
        </p:txBody>
      </p:sp>
      <p:sp>
        <p:nvSpPr>
          <p:cNvPr id="40" name="Text 38"/>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5B6478"/>
                </a:solidFill>
                <a:latin typeface="Calibri" pitchFamily="34" charset="0"/>
                <a:ea typeface="Calibri" pitchFamily="34" charset="-122"/>
                <a:cs typeface="Calibri" pitchFamily="34" charset="-120"/>
              </a:rPr>
              <a:t>GRIDWISE AI  ·  TEAM OUTLIERS</a:t>
            </a:r>
            <a:endParaRPr lang="en-US" sz="900" dirty="0"/>
          </a:p>
        </p:txBody>
      </p:sp>
      <p:sp>
        <p:nvSpPr>
          <p:cNvPr id="41" name="Text 39"/>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ourier New" pitchFamily="34" charset="0"/>
                <a:ea typeface="Courier New" pitchFamily="34" charset="-122"/>
                <a:cs typeface="Courier New" pitchFamily="34" charset="-120"/>
              </a:rPr>
              <a:t>06 / 08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100" b="1" spc="200" kern="0" dirty="0">
                <a:solidFill>
                  <a:srgbClr val="007A72"/>
                </a:solidFill>
                <a:latin typeface="Courier New" pitchFamily="34" charset="0"/>
                <a:ea typeface="Courier New" pitchFamily="34" charset="-122"/>
                <a:cs typeface="Courier New" pitchFamily="34" charset="-120"/>
              </a:rPr>
              <a:t>QUANTIFIED RESULTS &amp; IMPACT</a:t>
            </a:r>
            <a:endParaRPr lang="en-US" sz="1100" dirty="0"/>
          </a:p>
        </p:txBody>
      </p:sp>
      <p:sp>
        <p:nvSpPr>
          <p:cNvPr id="3" name="Text 1"/>
          <p:cNvSpPr txBox="1"/>
          <p:nvPr/>
        </p:nvSpPr>
        <p:spPr>
          <a:xfrm>
            <a:off x="548640" y="749808"/>
            <a:ext cx="10515600" cy="548640"/>
          </a:xfrm>
          <a:prstGeom prst="rect">
            <a:avLst/>
          </a:prstGeom>
          <a:noFill/>
          <a:ln/>
        </p:spPr>
        <p:txBody>
          <a:bodyPr wrap="square" lIns="0" tIns="0" rIns="0" bIns="0" rtlCol="0" anchor="ctr"/>
          <a:lstStyle/>
          <a:p>
            <a:pPr indent="0" marL="0">
              <a:buNone/>
            </a:pPr>
            <a:r>
              <a:rPr lang="en-US" sz="2800" b="1" dirty="0">
                <a:solidFill>
                  <a:srgbClr val="0B1220"/>
                </a:solidFill>
                <a:latin typeface="Century Schoolbook" pitchFamily="34" charset="0"/>
                <a:ea typeface="Century Schoolbook" pitchFamily="34" charset="-122"/>
                <a:cs typeface="Century Schoolbook" pitchFamily="34" charset="-120"/>
              </a:rPr>
              <a:t>Numbers That Back the Story</a:t>
            </a:r>
            <a:endParaRPr lang="en-US" sz="2800" dirty="0"/>
          </a:p>
        </p:txBody>
      </p:sp>
      <p:sp>
        <p:nvSpPr>
          <p:cNvPr id="4" name="Shape 2"/>
          <p:cNvSpPr/>
          <p:nvPr/>
        </p:nvSpPr>
        <p:spPr>
          <a:xfrm>
            <a:off x="548640" y="1554480"/>
            <a:ext cx="2606040" cy="3017520"/>
          </a:xfrm>
          <a:prstGeom prst="roundRect">
            <a:avLst>
              <a:gd name="adj" fmla="val 2807"/>
            </a:avLst>
          </a:prstGeom>
          <a:solidFill>
            <a:srgbClr val="F4F7FB"/>
          </a:solidFill>
          <a:ln w="15875">
            <a:solidFill>
              <a:srgbClr val="00A99D"/>
            </a:solidFill>
            <a:prstDash val="solid"/>
          </a:ln>
          <a:effectLst>
            <a:outerShdw sx="100000" sy="100000" kx="0" ky="0" algn="bl" rotWithShape="0" blurRad="76200" dist="25400" dir="5400000">
              <a:srgbClr val="6B7A99">
                <a:alpha val="15000"/>
              </a:srgbClr>
            </a:outerShdw>
          </a:effectLst>
        </p:spPr>
      </p:sp>
      <p:sp>
        <p:nvSpPr>
          <p:cNvPr id="5" name="Text 3"/>
          <p:cNvSpPr txBox="1"/>
          <p:nvPr/>
        </p:nvSpPr>
        <p:spPr>
          <a:xfrm>
            <a:off x="731520" y="1965960"/>
            <a:ext cx="2240280" cy="731520"/>
          </a:xfrm>
          <a:prstGeom prst="rect">
            <a:avLst/>
          </a:prstGeom>
          <a:noFill/>
          <a:ln/>
        </p:spPr>
        <p:txBody>
          <a:bodyPr wrap="square" lIns="0" tIns="0" rIns="0" bIns="0" rtlCol="0" anchor="ctr"/>
          <a:lstStyle/>
          <a:p>
            <a:pPr algn="ctr" indent="0" marL="0">
              <a:buNone/>
            </a:pPr>
            <a:r>
              <a:rPr lang="en-US" sz="3400" b="1" dirty="0">
                <a:solidFill>
                  <a:srgbClr val="00A99D"/>
                </a:solidFill>
                <a:latin typeface="Century Schoolbook" pitchFamily="34" charset="0"/>
                <a:ea typeface="Century Schoolbook" pitchFamily="34" charset="-122"/>
                <a:cs typeface="Century Schoolbook" pitchFamily="34" charset="-120"/>
              </a:rPr>
              <a:t>4.3 MWh</a:t>
            </a:r>
            <a:pPr algn="ctr" indent="0" marL="0">
              <a:buNone/>
            </a:pPr>
            <a:r>
              <a:rPr lang="en-US" sz="1600" dirty="0">
                <a:solidFill>
                  <a:srgbClr val="00A99D"/>
                </a:solidFill>
                <a:latin typeface="Century Schoolbook" pitchFamily="34" charset="0"/>
                <a:ea typeface="Century Schoolbook" pitchFamily="34" charset="-122"/>
                <a:cs typeface="Century Schoolbook" pitchFamily="34" charset="-120"/>
              </a:rPr>
              <a:t>/ day</a:t>
            </a:r>
            <a:endParaRPr lang="en-US" sz="3400" dirty="0"/>
          </a:p>
        </p:txBody>
      </p:sp>
      <p:sp>
        <p:nvSpPr>
          <p:cNvPr id="6" name="Shape 4"/>
          <p:cNvSpPr/>
          <p:nvPr/>
        </p:nvSpPr>
        <p:spPr>
          <a:xfrm>
            <a:off x="914400" y="2880360"/>
            <a:ext cx="1874520" cy="0"/>
          </a:xfrm>
          <a:prstGeom prst="line">
            <a:avLst/>
          </a:prstGeom>
          <a:noFill/>
          <a:ln w="9525">
            <a:solidFill>
              <a:srgbClr val="00A99D">
                <a:alpha val="70000"/>
              </a:srgbClr>
            </a:solidFill>
            <a:prstDash val="solid"/>
          </a:ln>
        </p:spPr>
      </p:sp>
      <p:sp>
        <p:nvSpPr>
          <p:cNvPr id="7" name="Text 5"/>
          <p:cNvSpPr txBox="1"/>
          <p:nvPr/>
        </p:nvSpPr>
        <p:spPr>
          <a:xfrm>
            <a:off x="731520" y="3017520"/>
            <a:ext cx="2240280" cy="457200"/>
          </a:xfrm>
          <a:prstGeom prst="rect">
            <a:avLst/>
          </a:prstGeom>
          <a:noFill/>
          <a:ln/>
        </p:spPr>
        <p:txBody>
          <a:bodyPr wrap="square" lIns="0" tIns="0" rIns="0" bIns="0" rtlCol="0" anchor="ctr"/>
          <a:lstStyle/>
          <a:p>
            <a:pPr algn="ctr" indent="0" marL="0">
              <a:buNone/>
            </a:pPr>
            <a:r>
              <a:rPr lang="en-US" sz="1100" b="1" spc="50" kern="0" dirty="0">
                <a:solidFill>
                  <a:srgbClr val="0B1220"/>
                </a:solidFill>
                <a:latin typeface="Courier New" pitchFamily="34" charset="0"/>
                <a:ea typeface="Courier New" pitchFamily="34" charset="-122"/>
                <a:cs typeface="Courier New" pitchFamily="34" charset="-120"/>
              </a:rPr>
              <a:t>CURTAILMENT AVOIDED</a:t>
            </a:r>
            <a:endParaRPr lang="en-US" sz="1100" dirty="0"/>
          </a:p>
        </p:txBody>
      </p:sp>
      <p:sp>
        <p:nvSpPr>
          <p:cNvPr id="8" name="Text 6"/>
          <p:cNvSpPr txBox="1"/>
          <p:nvPr/>
        </p:nvSpPr>
        <p:spPr>
          <a:xfrm>
            <a:off x="777240" y="3520440"/>
            <a:ext cx="2148840" cy="914400"/>
          </a:xfrm>
          <a:prstGeom prst="rect">
            <a:avLst/>
          </a:prstGeom>
          <a:noFill/>
          <a:ln/>
        </p:spPr>
        <p:txBody>
          <a:bodyPr wrap="square" lIns="0" tIns="0" rIns="0" bIns="0" rtlCol="0" anchor="ctr"/>
          <a:lstStyle/>
          <a:p>
            <a:pPr algn="ctr" indent="0" marL="0">
              <a:buNone/>
            </a:pPr>
            <a:r>
              <a:rPr lang="en-US" sz="1050" dirty="0">
                <a:solidFill>
                  <a:srgbClr val="5B6478"/>
                </a:solidFill>
                <a:latin typeface="Calibri" pitchFamily="34" charset="0"/>
                <a:ea typeface="Calibri" pitchFamily="34" charset="-122"/>
                <a:cs typeface="Calibri" pitchFamily="34" charset="-120"/>
              </a:rPr>
              <a:t>82% reduction in simulated stress scenarios</a:t>
            </a:r>
            <a:endParaRPr lang="en-US" sz="1050" dirty="0"/>
          </a:p>
        </p:txBody>
      </p:sp>
      <p:sp>
        <p:nvSpPr>
          <p:cNvPr id="9" name="Shape 7"/>
          <p:cNvSpPr/>
          <p:nvPr/>
        </p:nvSpPr>
        <p:spPr>
          <a:xfrm>
            <a:off x="3374136" y="1554480"/>
            <a:ext cx="2606040" cy="3017520"/>
          </a:xfrm>
          <a:prstGeom prst="roundRect">
            <a:avLst>
              <a:gd name="adj" fmla="val 2807"/>
            </a:avLst>
          </a:prstGeom>
          <a:solidFill>
            <a:srgbClr val="F4F7FB"/>
          </a:solidFill>
          <a:ln w="15875">
            <a:solidFill>
              <a:srgbClr val="108A56"/>
            </a:solidFill>
            <a:prstDash val="solid"/>
          </a:ln>
          <a:effectLst>
            <a:outerShdw sx="100000" sy="100000" kx="0" ky="0" algn="bl" rotWithShape="0" blurRad="76200" dist="25400" dir="5400000">
              <a:srgbClr val="6B7A99">
                <a:alpha val="15000"/>
              </a:srgbClr>
            </a:outerShdw>
          </a:effectLst>
        </p:spPr>
      </p:sp>
      <p:sp>
        <p:nvSpPr>
          <p:cNvPr id="10" name="Text 8"/>
          <p:cNvSpPr txBox="1"/>
          <p:nvPr/>
        </p:nvSpPr>
        <p:spPr>
          <a:xfrm>
            <a:off x="3557016" y="1965960"/>
            <a:ext cx="2240280" cy="731520"/>
          </a:xfrm>
          <a:prstGeom prst="rect">
            <a:avLst/>
          </a:prstGeom>
          <a:noFill/>
          <a:ln/>
        </p:spPr>
        <p:txBody>
          <a:bodyPr wrap="square" lIns="0" tIns="0" rIns="0" bIns="0" rtlCol="0" anchor="ctr"/>
          <a:lstStyle/>
          <a:p>
            <a:pPr algn="ctr" indent="0" marL="0">
              <a:buNone/>
            </a:pPr>
            <a:r>
              <a:rPr lang="en-US" sz="3400" b="1" dirty="0">
                <a:solidFill>
                  <a:srgbClr val="108A56"/>
                </a:solidFill>
                <a:latin typeface="Century Schoolbook" pitchFamily="34" charset="0"/>
                <a:ea typeface="Century Schoolbook" pitchFamily="34" charset="-122"/>
                <a:cs typeface="Century Schoolbook" pitchFamily="34" charset="-120"/>
              </a:rPr>
              <a:t>94.2%</a:t>
            </a:r>
            <a:pPr algn="ctr" indent="0" marL="0">
              <a:buNone/>
            </a:pPr>
            <a:endParaRPr lang="en-US" sz="3400" dirty="0"/>
          </a:p>
        </p:txBody>
      </p:sp>
      <p:sp>
        <p:nvSpPr>
          <p:cNvPr id="11" name="Shape 9"/>
          <p:cNvSpPr/>
          <p:nvPr/>
        </p:nvSpPr>
        <p:spPr>
          <a:xfrm>
            <a:off x="3739896" y="2880360"/>
            <a:ext cx="1874520" cy="0"/>
          </a:xfrm>
          <a:prstGeom prst="line">
            <a:avLst/>
          </a:prstGeom>
          <a:noFill/>
          <a:ln w="9525">
            <a:solidFill>
              <a:srgbClr val="108A56">
                <a:alpha val="70000"/>
              </a:srgbClr>
            </a:solidFill>
            <a:prstDash val="solid"/>
          </a:ln>
        </p:spPr>
      </p:sp>
      <p:sp>
        <p:nvSpPr>
          <p:cNvPr id="12" name="Text 10"/>
          <p:cNvSpPr txBox="1"/>
          <p:nvPr/>
        </p:nvSpPr>
        <p:spPr>
          <a:xfrm>
            <a:off x="3557016" y="3017520"/>
            <a:ext cx="2240280" cy="457200"/>
          </a:xfrm>
          <a:prstGeom prst="rect">
            <a:avLst/>
          </a:prstGeom>
          <a:noFill/>
          <a:ln/>
        </p:spPr>
        <p:txBody>
          <a:bodyPr wrap="square" lIns="0" tIns="0" rIns="0" bIns="0" rtlCol="0" anchor="ctr"/>
          <a:lstStyle/>
          <a:p>
            <a:pPr algn="ctr" indent="0" marL="0">
              <a:buNone/>
            </a:pPr>
            <a:r>
              <a:rPr lang="en-US" sz="1100" b="1" spc="50" kern="0" dirty="0">
                <a:solidFill>
                  <a:srgbClr val="0B1220"/>
                </a:solidFill>
                <a:latin typeface="Courier New" pitchFamily="34" charset="0"/>
                <a:ea typeface="Courier New" pitchFamily="34" charset="-122"/>
                <a:cs typeface="Courier New" pitchFamily="34" charset="-120"/>
              </a:rPr>
              <a:t>GRID STABILITY</a:t>
            </a:r>
            <a:endParaRPr lang="en-US" sz="1100" dirty="0"/>
          </a:p>
        </p:txBody>
      </p:sp>
      <p:sp>
        <p:nvSpPr>
          <p:cNvPr id="13" name="Text 11"/>
          <p:cNvSpPr txBox="1"/>
          <p:nvPr/>
        </p:nvSpPr>
        <p:spPr>
          <a:xfrm>
            <a:off x="3602736" y="3520440"/>
            <a:ext cx="2148840" cy="914400"/>
          </a:xfrm>
          <a:prstGeom prst="rect">
            <a:avLst/>
          </a:prstGeom>
          <a:noFill/>
          <a:ln/>
        </p:spPr>
        <p:txBody>
          <a:bodyPr wrap="square" lIns="0" tIns="0" rIns="0" bIns="0" rtlCol="0" anchor="ctr"/>
          <a:lstStyle/>
          <a:p>
            <a:pPr algn="ctr" indent="0" marL="0">
              <a:buNone/>
            </a:pPr>
            <a:r>
              <a:rPr lang="en-US" sz="1050" dirty="0">
                <a:solidFill>
                  <a:srgbClr val="5B6478"/>
                </a:solidFill>
                <a:latin typeface="Calibri" pitchFamily="34" charset="0"/>
                <a:ea typeface="Calibri" pitchFamily="34" charset="-122"/>
                <a:cs typeface="Calibri" pitchFamily="34" charset="-120"/>
              </a:rPr>
              <a:t>Power-factor compliance during peak demand</a:t>
            </a:r>
            <a:endParaRPr lang="en-US" sz="1050" dirty="0"/>
          </a:p>
        </p:txBody>
      </p:sp>
      <p:sp>
        <p:nvSpPr>
          <p:cNvPr id="14" name="Shape 12"/>
          <p:cNvSpPr/>
          <p:nvPr/>
        </p:nvSpPr>
        <p:spPr>
          <a:xfrm>
            <a:off x="6199632" y="1554480"/>
            <a:ext cx="2606040" cy="3017520"/>
          </a:xfrm>
          <a:prstGeom prst="roundRect">
            <a:avLst>
              <a:gd name="adj" fmla="val 2807"/>
            </a:avLst>
          </a:prstGeom>
          <a:solidFill>
            <a:srgbClr val="F4F7FB"/>
          </a:solidFill>
          <a:ln w="15875">
            <a:solidFill>
              <a:srgbClr val="C98A00"/>
            </a:solidFill>
            <a:prstDash val="solid"/>
          </a:ln>
          <a:effectLst>
            <a:outerShdw sx="100000" sy="100000" kx="0" ky="0" algn="bl" rotWithShape="0" blurRad="76200" dist="25400" dir="5400000">
              <a:srgbClr val="6B7A99">
                <a:alpha val="15000"/>
              </a:srgbClr>
            </a:outerShdw>
          </a:effectLst>
        </p:spPr>
      </p:sp>
      <p:sp>
        <p:nvSpPr>
          <p:cNvPr id="15" name="Text 13"/>
          <p:cNvSpPr txBox="1"/>
          <p:nvPr/>
        </p:nvSpPr>
        <p:spPr>
          <a:xfrm>
            <a:off x="6382512" y="1965960"/>
            <a:ext cx="2240280" cy="731520"/>
          </a:xfrm>
          <a:prstGeom prst="rect">
            <a:avLst/>
          </a:prstGeom>
          <a:noFill/>
          <a:ln/>
        </p:spPr>
        <p:txBody>
          <a:bodyPr wrap="square" lIns="0" tIns="0" rIns="0" bIns="0" rtlCol="0" anchor="ctr"/>
          <a:lstStyle/>
          <a:p>
            <a:pPr algn="ctr" indent="0" marL="0">
              <a:buNone/>
            </a:pPr>
            <a:r>
              <a:rPr lang="en-US" sz="3400" b="1" dirty="0">
                <a:solidFill>
                  <a:srgbClr val="C98A00"/>
                </a:solidFill>
                <a:latin typeface="Century Schoolbook" pitchFamily="34" charset="0"/>
                <a:ea typeface="Century Schoolbook" pitchFamily="34" charset="-122"/>
                <a:cs typeface="Century Schoolbook" pitchFamily="34" charset="-120"/>
              </a:rPr>
              <a:t>&lt;3 sec</a:t>
            </a:r>
            <a:pPr algn="ctr" indent="0" marL="0">
              <a:buNone/>
            </a:pPr>
            <a:endParaRPr lang="en-US" sz="3400" dirty="0"/>
          </a:p>
        </p:txBody>
      </p:sp>
      <p:sp>
        <p:nvSpPr>
          <p:cNvPr id="16" name="Shape 14"/>
          <p:cNvSpPr/>
          <p:nvPr/>
        </p:nvSpPr>
        <p:spPr>
          <a:xfrm>
            <a:off x="6565392" y="2880360"/>
            <a:ext cx="1874520" cy="0"/>
          </a:xfrm>
          <a:prstGeom prst="line">
            <a:avLst/>
          </a:prstGeom>
          <a:noFill/>
          <a:ln w="9525">
            <a:solidFill>
              <a:srgbClr val="C98A00">
                <a:alpha val="70000"/>
              </a:srgbClr>
            </a:solidFill>
            <a:prstDash val="solid"/>
          </a:ln>
        </p:spPr>
      </p:sp>
      <p:sp>
        <p:nvSpPr>
          <p:cNvPr id="17" name="Text 15"/>
          <p:cNvSpPr txBox="1"/>
          <p:nvPr/>
        </p:nvSpPr>
        <p:spPr>
          <a:xfrm>
            <a:off x="6382512" y="3017520"/>
            <a:ext cx="2240280" cy="457200"/>
          </a:xfrm>
          <a:prstGeom prst="rect">
            <a:avLst/>
          </a:prstGeom>
          <a:noFill/>
          <a:ln/>
        </p:spPr>
        <p:txBody>
          <a:bodyPr wrap="square" lIns="0" tIns="0" rIns="0" bIns="0" rtlCol="0" anchor="ctr"/>
          <a:lstStyle/>
          <a:p>
            <a:pPr algn="ctr" indent="0" marL="0">
              <a:buNone/>
            </a:pPr>
            <a:r>
              <a:rPr lang="en-US" sz="1100" b="1" spc="50" kern="0" dirty="0">
                <a:solidFill>
                  <a:srgbClr val="0B1220"/>
                </a:solidFill>
                <a:latin typeface="Courier New" pitchFamily="34" charset="0"/>
                <a:ea typeface="Courier New" pitchFamily="34" charset="-122"/>
                <a:cs typeface="Courier New" pitchFamily="34" charset="-120"/>
              </a:rPr>
              <a:t>RESPONSE TIME</a:t>
            </a:r>
            <a:endParaRPr lang="en-US" sz="1100" dirty="0"/>
          </a:p>
        </p:txBody>
      </p:sp>
      <p:sp>
        <p:nvSpPr>
          <p:cNvPr id="18" name="Text 16"/>
          <p:cNvSpPr txBox="1"/>
          <p:nvPr/>
        </p:nvSpPr>
        <p:spPr>
          <a:xfrm>
            <a:off x="6428232" y="3520440"/>
            <a:ext cx="2148840" cy="914400"/>
          </a:xfrm>
          <a:prstGeom prst="rect">
            <a:avLst/>
          </a:prstGeom>
          <a:noFill/>
          <a:ln/>
        </p:spPr>
        <p:txBody>
          <a:bodyPr wrap="square" lIns="0" tIns="0" rIns="0" bIns="0" rtlCol="0" anchor="ctr"/>
          <a:lstStyle/>
          <a:p>
            <a:pPr algn="ctr" indent="0" marL="0">
              <a:buNone/>
            </a:pPr>
            <a:r>
              <a:rPr lang="en-US" sz="1050" dirty="0">
                <a:solidFill>
                  <a:srgbClr val="5B6478"/>
                </a:solidFill>
                <a:latin typeface="Calibri" pitchFamily="34" charset="0"/>
                <a:ea typeface="Calibri" pitchFamily="34" charset="-122"/>
                <a:cs typeface="Calibri" pitchFamily="34" charset="-120"/>
              </a:rPr>
              <a:t>Down from 45 min of manual diagnosis</a:t>
            </a:r>
            <a:endParaRPr lang="en-US" sz="1050" dirty="0"/>
          </a:p>
        </p:txBody>
      </p:sp>
      <p:sp>
        <p:nvSpPr>
          <p:cNvPr id="19" name="Shape 17"/>
          <p:cNvSpPr/>
          <p:nvPr/>
        </p:nvSpPr>
        <p:spPr>
          <a:xfrm>
            <a:off x="9025128" y="1554480"/>
            <a:ext cx="2606040" cy="3017520"/>
          </a:xfrm>
          <a:prstGeom prst="roundRect">
            <a:avLst>
              <a:gd name="adj" fmla="val 2807"/>
            </a:avLst>
          </a:prstGeom>
          <a:solidFill>
            <a:srgbClr val="F4F7FB"/>
          </a:solidFill>
          <a:ln w="15875">
            <a:solidFill>
              <a:srgbClr val="7C3AED"/>
            </a:solidFill>
            <a:prstDash val="solid"/>
          </a:ln>
          <a:effectLst>
            <a:outerShdw sx="100000" sy="100000" kx="0" ky="0" algn="bl" rotWithShape="0" blurRad="76200" dist="25400" dir="5400000">
              <a:srgbClr val="6B7A99">
                <a:alpha val="15000"/>
              </a:srgbClr>
            </a:outerShdw>
          </a:effectLst>
        </p:spPr>
      </p:sp>
      <p:sp>
        <p:nvSpPr>
          <p:cNvPr id="20" name="Text 18"/>
          <p:cNvSpPr txBox="1"/>
          <p:nvPr/>
        </p:nvSpPr>
        <p:spPr>
          <a:xfrm>
            <a:off x="9208008" y="1965960"/>
            <a:ext cx="2240280" cy="731520"/>
          </a:xfrm>
          <a:prstGeom prst="rect">
            <a:avLst/>
          </a:prstGeom>
          <a:noFill/>
          <a:ln/>
        </p:spPr>
        <p:txBody>
          <a:bodyPr wrap="square" lIns="0" tIns="0" rIns="0" bIns="0" rtlCol="0" anchor="ctr"/>
          <a:lstStyle/>
          <a:p>
            <a:pPr algn="ctr" indent="0" marL="0">
              <a:buNone/>
            </a:pPr>
            <a:r>
              <a:rPr lang="en-US" sz="3400" b="1" dirty="0">
                <a:solidFill>
                  <a:srgbClr val="7C3AED"/>
                </a:solidFill>
                <a:latin typeface="Century Schoolbook" pitchFamily="34" charset="0"/>
                <a:ea typeface="Century Schoolbook" pitchFamily="34" charset="-122"/>
                <a:cs typeface="Century Schoolbook" pitchFamily="34" charset="-120"/>
              </a:rPr>
              <a:t>139/139</a:t>
            </a:r>
            <a:pPr algn="ctr" indent="0" marL="0">
              <a:buNone/>
            </a:pPr>
            <a:endParaRPr lang="en-US" sz="3400" dirty="0"/>
          </a:p>
        </p:txBody>
      </p:sp>
      <p:sp>
        <p:nvSpPr>
          <p:cNvPr id="21" name="Shape 19"/>
          <p:cNvSpPr/>
          <p:nvPr/>
        </p:nvSpPr>
        <p:spPr>
          <a:xfrm>
            <a:off x="9390888" y="2880360"/>
            <a:ext cx="1874520" cy="0"/>
          </a:xfrm>
          <a:prstGeom prst="line">
            <a:avLst/>
          </a:prstGeom>
          <a:noFill/>
          <a:ln w="9525">
            <a:solidFill>
              <a:srgbClr val="7C3AED">
                <a:alpha val="70000"/>
              </a:srgbClr>
            </a:solidFill>
            <a:prstDash val="solid"/>
          </a:ln>
        </p:spPr>
      </p:sp>
      <p:sp>
        <p:nvSpPr>
          <p:cNvPr id="22" name="Text 20"/>
          <p:cNvSpPr txBox="1"/>
          <p:nvPr/>
        </p:nvSpPr>
        <p:spPr>
          <a:xfrm>
            <a:off x="9208008" y="3017520"/>
            <a:ext cx="2240280" cy="457200"/>
          </a:xfrm>
          <a:prstGeom prst="rect">
            <a:avLst/>
          </a:prstGeom>
          <a:noFill/>
          <a:ln/>
        </p:spPr>
        <p:txBody>
          <a:bodyPr wrap="square" lIns="0" tIns="0" rIns="0" bIns="0" rtlCol="0" anchor="ctr"/>
          <a:lstStyle/>
          <a:p>
            <a:pPr algn="ctr" indent="0" marL="0">
              <a:buNone/>
            </a:pPr>
            <a:r>
              <a:rPr lang="en-US" sz="1100" b="1" spc="50" kern="0" dirty="0">
                <a:solidFill>
                  <a:srgbClr val="0B1220"/>
                </a:solidFill>
                <a:latin typeface="Courier New" pitchFamily="34" charset="0"/>
                <a:ea typeface="Courier New" pitchFamily="34" charset="-122"/>
                <a:cs typeface="Courier New" pitchFamily="34" charset="-120"/>
              </a:rPr>
              <a:t>TEST RELIABILITY</a:t>
            </a:r>
            <a:endParaRPr lang="en-US" sz="1100" dirty="0"/>
          </a:p>
        </p:txBody>
      </p:sp>
      <p:sp>
        <p:nvSpPr>
          <p:cNvPr id="23" name="Text 21"/>
          <p:cNvSpPr txBox="1"/>
          <p:nvPr/>
        </p:nvSpPr>
        <p:spPr>
          <a:xfrm>
            <a:off x="9253728" y="3520440"/>
            <a:ext cx="2148840" cy="914400"/>
          </a:xfrm>
          <a:prstGeom prst="rect">
            <a:avLst/>
          </a:prstGeom>
          <a:noFill/>
          <a:ln/>
        </p:spPr>
        <p:txBody>
          <a:bodyPr wrap="square" lIns="0" tIns="0" rIns="0" bIns="0" rtlCol="0" anchor="ctr"/>
          <a:lstStyle/>
          <a:p>
            <a:pPr algn="ctr" indent="0" marL="0">
              <a:buNone/>
            </a:pPr>
            <a:r>
              <a:rPr lang="en-US" sz="1050" dirty="0">
                <a:solidFill>
                  <a:srgbClr val="5B6478"/>
                </a:solidFill>
                <a:latin typeface="Calibri" pitchFamily="34" charset="0"/>
                <a:ea typeface="Calibri" pitchFamily="34" charset="-122"/>
                <a:cs typeface="Calibri" pitchFamily="34" charset="-120"/>
              </a:rPr>
              <a:t>Automated pytest suite — 100% passing</a:t>
            </a:r>
            <a:endParaRPr lang="en-US" sz="1050" dirty="0"/>
          </a:p>
        </p:txBody>
      </p:sp>
      <p:sp>
        <p:nvSpPr>
          <p:cNvPr id="24" name="Shape 22"/>
          <p:cNvSpPr/>
          <p:nvPr/>
        </p:nvSpPr>
        <p:spPr>
          <a:xfrm>
            <a:off x="548640" y="4892040"/>
            <a:ext cx="11064240" cy="777240"/>
          </a:xfrm>
          <a:prstGeom prst="roundRect">
            <a:avLst>
              <a:gd name="adj" fmla="val 7059"/>
            </a:avLst>
          </a:prstGeom>
          <a:solidFill>
            <a:srgbClr val="FCEAEF"/>
          </a:solidFill>
          <a:ln w="12700">
            <a:solidFill>
              <a:srgbClr val="D8264A"/>
            </a:solidFill>
            <a:prstDash val="solid"/>
          </a:ln>
        </p:spPr>
      </p:sp>
      <p:sp>
        <p:nvSpPr>
          <p:cNvPr id="25" name="Text 23"/>
          <p:cNvSpPr txBox="1"/>
          <p:nvPr/>
        </p:nvSpPr>
        <p:spPr>
          <a:xfrm>
            <a:off x="822960" y="4892040"/>
            <a:ext cx="10515600" cy="777240"/>
          </a:xfrm>
          <a:prstGeom prst="rect">
            <a:avLst/>
          </a:prstGeom>
          <a:noFill/>
          <a:ln/>
        </p:spPr>
        <p:txBody>
          <a:bodyPr wrap="square" lIns="0" tIns="0" rIns="0" bIns="0" rtlCol="0" anchor="ctr"/>
          <a:lstStyle/>
          <a:p>
            <a:pPr indent="0" marL="0">
              <a:buNone/>
            </a:pPr>
            <a:r>
              <a:rPr lang="en-US" sz="1400" b="1" dirty="0">
                <a:solidFill>
                  <a:srgbClr val="D8264A"/>
                </a:solidFill>
                <a:latin typeface="Calibri" pitchFamily="34" charset="0"/>
                <a:ea typeface="Calibri" pitchFamily="34" charset="-122"/>
                <a:cs typeface="Calibri" pitchFamily="34" charset="-120"/>
              </a:rPr>
              <a:t>ZERO FABRICATION GUARANTEE   </a:t>
            </a:r>
            <a:pPr indent="0" marL="0">
              <a:buNone/>
            </a:pPr>
            <a:r>
              <a:rPr lang="en-US" sz="1200" dirty="0">
                <a:solidFill>
                  <a:srgbClr val="0B1220"/>
                </a:solidFill>
                <a:latin typeface="Calibri" pitchFamily="34" charset="0"/>
                <a:ea typeface="Calibri" pitchFamily="34" charset="-122"/>
                <a:cs typeface="Calibri" pitchFamily="34" charset="-120"/>
              </a:rPr>
              <a:t>100% backend-grounded telemetry, verified end-to-end for every number IBM Bob speaks.</a:t>
            </a:r>
            <a:endParaRPr lang="en-US" sz="1400" dirty="0"/>
          </a:p>
        </p:txBody>
      </p:sp>
      <p:sp>
        <p:nvSpPr>
          <p:cNvPr id="26" name="Text 24"/>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5B6478"/>
                </a:solidFill>
                <a:latin typeface="Calibri" pitchFamily="34" charset="0"/>
                <a:ea typeface="Calibri" pitchFamily="34" charset="-122"/>
                <a:cs typeface="Calibri" pitchFamily="34" charset="-120"/>
              </a:rPr>
              <a:t>GRIDWISE AI  ·  TEAM OUTLIERS</a:t>
            </a:r>
            <a:endParaRPr lang="en-US" sz="900" dirty="0"/>
          </a:p>
        </p:txBody>
      </p:sp>
      <p:sp>
        <p:nvSpPr>
          <p:cNvPr id="27" name="Text 25"/>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5B6478"/>
                </a:solidFill>
                <a:latin typeface="Courier New" pitchFamily="34" charset="0"/>
                <a:ea typeface="Courier New" pitchFamily="34" charset="-122"/>
                <a:cs typeface="Courier New" pitchFamily="34" charset="-120"/>
              </a:rPr>
              <a:t>07 / 08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859536"/>
            <a:ext cx="12161520" cy="0"/>
          </a:xfrm>
          <a:prstGeom prst="line">
            <a:avLst/>
          </a:prstGeom>
          <a:noFill/>
          <a:ln w="6350">
            <a:solidFill>
              <a:srgbClr val="1C3355">
                <a:alpha val="45000"/>
              </a:srgbClr>
            </a:solidFill>
            <a:prstDash val="solid"/>
          </a:ln>
        </p:spPr>
      </p:sp>
      <p:sp>
        <p:nvSpPr>
          <p:cNvPr id="3" name="Shape 1"/>
          <p:cNvSpPr/>
          <p:nvPr/>
        </p:nvSpPr>
        <p:spPr>
          <a:xfrm>
            <a:off x="0" y="1719072"/>
            <a:ext cx="12161520" cy="0"/>
          </a:xfrm>
          <a:prstGeom prst="line">
            <a:avLst/>
          </a:prstGeom>
          <a:noFill/>
          <a:ln w="6350">
            <a:solidFill>
              <a:srgbClr val="1C3355">
                <a:alpha val="45000"/>
              </a:srgbClr>
            </a:solidFill>
            <a:prstDash val="solid"/>
          </a:ln>
        </p:spPr>
      </p:sp>
      <p:sp>
        <p:nvSpPr>
          <p:cNvPr id="4" name="Shape 2"/>
          <p:cNvSpPr/>
          <p:nvPr/>
        </p:nvSpPr>
        <p:spPr>
          <a:xfrm>
            <a:off x="0" y="2578608"/>
            <a:ext cx="12161520" cy="0"/>
          </a:xfrm>
          <a:prstGeom prst="line">
            <a:avLst/>
          </a:prstGeom>
          <a:noFill/>
          <a:ln w="6350">
            <a:solidFill>
              <a:srgbClr val="1C3355">
                <a:alpha val="45000"/>
              </a:srgbClr>
            </a:solidFill>
            <a:prstDash val="solid"/>
          </a:ln>
        </p:spPr>
      </p:sp>
      <p:sp>
        <p:nvSpPr>
          <p:cNvPr id="5" name="Shape 3"/>
          <p:cNvSpPr/>
          <p:nvPr/>
        </p:nvSpPr>
        <p:spPr>
          <a:xfrm>
            <a:off x="0" y="3438144"/>
            <a:ext cx="12161520" cy="0"/>
          </a:xfrm>
          <a:prstGeom prst="line">
            <a:avLst/>
          </a:prstGeom>
          <a:noFill/>
          <a:ln w="6350">
            <a:solidFill>
              <a:srgbClr val="1C3355">
                <a:alpha val="45000"/>
              </a:srgbClr>
            </a:solidFill>
            <a:prstDash val="solid"/>
          </a:ln>
        </p:spPr>
      </p:sp>
      <p:sp>
        <p:nvSpPr>
          <p:cNvPr id="6" name="Shape 4"/>
          <p:cNvSpPr/>
          <p:nvPr/>
        </p:nvSpPr>
        <p:spPr>
          <a:xfrm>
            <a:off x="0" y="4297680"/>
            <a:ext cx="12161520" cy="0"/>
          </a:xfrm>
          <a:prstGeom prst="line">
            <a:avLst/>
          </a:prstGeom>
          <a:noFill/>
          <a:ln w="6350">
            <a:solidFill>
              <a:srgbClr val="1C3355">
                <a:alpha val="45000"/>
              </a:srgbClr>
            </a:solidFill>
            <a:prstDash val="solid"/>
          </a:ln>
        </p:spPr>
      </p:sp>
      <p:sp>
        <p:nvSpPr>
          <p:cNvPr id="7" name="Shape 5"/>
          <p:cNvSpPr/>
          <p:nvPr/>
        </p:nvSpPr>
        <p:spPr>
          <a:xfrm>
            <a:off x="0" y="5157216"/>
            <a:ext cx="12161520" cy="0"/>
          </a:xfrm>
          <a:prstGeom prst="line">
            <a:avLst/>
          </a:prstGeom>
          <a:noFill/>
          <a:ln w="6350">
            <a:solidFill>
              <a:srgbClr val="1C3355">
                <a:alpha val="45000"/>
              </a:srgbClr>
            </a:solidFill>
            <a:prstDash val="solid"/>
          </a:ln>
        </p:spPr>
      </p:sp>
      <p:sp>
        <p:nvSpPr>
          <p:cNvPr id="8" name="Shape 6"/>
          <p:cNvSpPr/>
          <p:nvPr/>
        </p:nvSpPr>
        <p:spPr>
          <a:xfrm>
            <a:off x="0" y="6016752"/>
            <a:ext cx="12161520" cy="0"/>
          </a:xfrm>
          <a:prstGeom prst="line">
            <a:avLst/>
          </a:prstGeom>
          <a:noFill/>
          <a:ln w="6350">
            <a:solidFill>
              <a:srgbClr val="1C3355">
                <a:alpha val="45000"/>
              </a:srgbClr>
            </a:solidFill>
            <a:prstDash val="solid"/>
          </a:ln>
        </p:spPr>
      </p:sp>
      <p:sp>
        <p:nvSpPr>
          <p:cNvPr id="9" name="Shape 7"/>
          <p:cNvSpPr/>
          <p:nvPr/>
        </p:nvSpPr>
        <p:spPr>
          <a:xfrm>
            <a:off x="868680" y="0"/>
            <a:ext cx="0" cy="6858000"/>
          </a:xfrm>
          <a:prstGeom prst="line">
            <a:avLst/>
          </a:prstGeom>
          <a:noFill/>
          <a:ln w="6350">
            <a:solidFill>
              <a:srgbClr val="1C3355">
                <a:alpha val="45000"/>
              </a:srgbClr>
            </a:solidFill>
            <a:prstDash val="solid"/>
          </a:ln>
        </p:spPr>
      </p:sp>
      <p:sp>
        <p:nvSpPr>
          <p:cNvPr id="10" name="Shape 8"/>
          <p:cNvSpPr/>
          <p:nvPr/>
        </p:nvSpPr>
        <p:spPr>
          <a:xfrm>
            <a:off x="1737360" y="0"/>
            <a:ext cx="0" cy="6858000"/>
          </a:xfrm>
          <a:prstGeom prst="line">
            <a:avLst/>
          </a:prstGeom>
          <a:noFill/>
          <a:ln w="6350">
            <a:solidFill>
              <a:srgbClr val="1C3355">
                <a:alpha val="45000"/>
              </a:srgbClr>
            </a:solidFill>
            <a:prstDash val="solid"/>
          </a:ln>
        </p:spPr>
      </p:sp>
      <p:sp>
        <p:nvSpPr>
          <p:cNvPr id="11" name="Shape 9"/>
          <p:cNvSpPr/>
          <p:nvPr/>
        </p:nvSpPr>
        <p:spPr>
          <a:xfrm>
            <a:off x="2606040" y="0"/>
            <a:ext cx="0" cy="6858000"/>
          </a:xfrm>
          <a:prstGeom prst="line">
            <a:avLst/>
          </a:prstGeom>
          <a:noFill/>
          <a:ln w="6350">
            <a:solidFill>
              <a:srgbClr val="1C3355">
                <a:alpha val="45000"/>
              </a:srgbClr>
            </a:solidFill>
            <a:prstDash val="solid"/>
          </a:ln>
        </p:spPr>
      </p:sp>
      <p:sp>
        <p:nvSpPr>
          <p:cNvPr id="12" name="Shape 10"/>
          <p:cNvSpPr/>
          <p:nvPr/>
        </p:nvSpPr>
        <p:spPr>
          <a:xfrm>
            <a:off x="3474720" y="0"/>
            <a:ext cx="0" cy="6858000"/>
          </a:xfrm>
          <a:prstGeom prst="line">
            <a:avLst/>
          </a:prstGeom>
          <a:noFill/>
          <a:ln w="6350">
            <a:solidFill>
              <a:srgbClr val="1C3355">
                <a:alpha val="45000"/>
              </a:srgbClr>
            </a:solidFill>
            <a:prstDash val="solid"/>
          </a:ln>
        </p:spPr>
      </p:sp>
      <p:sp>
        <p:nvSpPr>
          <p:cNvPr id="13" name="Shape 11"/>
          <p:cNvSpPr/>
          <p:nvPr/>
        </p:nvSpPr>
        <p:spPr>
          <a:xfrm>
            <a:off x="4343400" y="0"/>
            <a:ext cx="0" cy="6858000"/>
          </a:xfrm>
          <a:prstGeom prst="line">
            <a:avLst/>
          </a:prstGeom>
          <a:noFill/>
          <a:ln w="6350">
            <a:solidFill>
              <a:srgbClr val="1C3355">
                <a:alpha val="45000"/>
              </a:srgbClr>
            </a:solidFill>
            <a:prstDash val="solid"/>
          </a:ln>
        </p:spPr>
      </p:sp>
      <p:sp>
        <p:nvSpPr>
          <p:cNvPr id="14" name="Shape 12"/>
          <p:cNvSpPr/>
          <p:nvPr/>
        </p:nvSpPr>
        <p:spPr>
          <a:xfrm>
            <a:off x="5212080" y="0"/>
            <a:ext cx="0" cy="6858000"/>
          </a:xfrm>
          <a:prstGeom prst="line">
            <a:avLst/>
          </a:prstGeom>
          <a:noFill/>
          <a:ln w="6350">
            <a:solidFill>
              <a:srgbClr val="1C3355">
                <a:alpha val="45000"/>
              </a:srgbClr>
            </a:solidFill>
            <a:prstDash val="solid"/>
          </a:ln>
        </p:spPr>
      </p:sp>
      <p:sp>
        <p:nvSpPr>
          <p:cNvPr id="15" name="Shape 13"/>
          <p:cNvSpPr/>
          <p:nvPr/>
        </p:nvSpPr>
        <p:spPr>
          <a:xfrm>
            <a:off x="6080760" y="0"/>
            <a:ext cx="0" cy="6858000"/>
          </a:xfrm>
          <a:prstGeom prst="line">
            <a:avLst/>
          </a:prstGeom>
          <a:noFill/>
          <a:ln w="6350">
            <a:solidFill>
              <a:srgbClr val="1C3355">
                <a:alpha val="45000"/>
              </a:srgbClr>
            </a:solidFill>
            <a:prstDash val="solid"/>
          </a:ln>
        </p:spPr>
      </p:sp>
      <p:sp>
        <p:nvSpPr>
          <p:cNvPr id="16" name="Shape 14"/>
          <p:cNvSpPr/>
          <p:nvPr/>
        </p:nvSpPr>
        <p:spPr>
          <a:xfrm>
            <a:off x="6949440" y="0"/>
            <a:ext cx="0" cy="6858000"/>
          </a:xfrm>
          <a:prstGeom prst="line">
            <a:avLst/>
          </a:prstGeom>
          <a:noFill/>
          <a:ln w="6350">
            <a:solidFill>
              <a:srgbClr val="1C3355">
                <a:alpha val="45000"/>
              </a:srgbClr>
            </a:solidFill>
            <a:prstDash val="solid"/>
          </a:ln>
        </p:spPr>
      </p:sp>
      <p:sp>
        <p:nvSpPr>
          <p:cNvPr id="17" name="Shape 15"/>
          <p:cNvSpPr/>
          <p:nvPr/>
        </p:nvSpPr>
        <p:spPr>
          <a:xfrm>
            <a:off x="7818120" y="0"/>
            <a:ext cx="0" cy="6858000"/>
          </a:xfrm>
          <a:prstGeom prst="line">
            <a:avLst/>
          </a:prstGeom>
          <a:noFill/>
          <a:ln w="6350">
            <a:solidFill>
              <a:srgbClr val="1C3355">
                <a:alpha val="45000"/>
              </a:srgbClr>
            </a:solidFill>
            <a:prstDash val="solid"/>
          </a:ln>
        </p:spPr>
      </p:sp>
      <p:sp>
        <p:nvSpPr>
          <p:cNvPr id="18" name="Shape 16"/>
          <p:cNvSpPr/>
          <p:nvPr/>
        </p:nvSpPr>
        <p:spPr>
          <a:xfrm>
            <a:off x="8686800" y="0"/>
            <a:ext cx="0" cy="6858000"/>
          </a:xfrm>
          <a:prstGeom prst="line">
            <a:avLst/>
          </a:prstGeom>
          <a:noFill/>
          <a:ln w="6350">
            <a:solidFill>
              <a:srgbClr val="1C3355">
                <a:alpha val="45000"/>
              </a:srgbClr>
            </a:solidFill>
            <a:prstDash val="solid"/>
          </a:ln>
        </p:spPr>
      </p:sp>
      <p:sp>
        <p:nvSpPr>
          <p:cNvPr id="19" name="Shape 17"/>
          <p:cNvSpPr/>
          <p:nvPr/>
        </p:nvSpPr>
        <p:spPr>
          <a:xfrm>
            <a:off x="9555480" y="0"/>
            <a:ext cx="0" cy="6858000"/>
          </a:xfrm>
          <a:prstGeom prst="line">
            <a:avLst/>
          </a:prstGeom>
          <a:noFill/>
          <a:ln w="6350">
            <a:solidFill>
              <a:srgbClr val="1C3355">
                <a:alpha val="45000"/>
              </a:srgbClr>
            </a:solidFill>
            <a:prstDash val="solid"/>
          </a:ln>
        </p:spPr>
      </p:sp>
      <p:sp>
        <p:nvSpPr>
          <p:cNvPr id="20" name="Shape 18"/>
          <p:cNvSpPr/>
          <p:nvPr/>
        </p:nvSpPr>
        <p:spPr>
          <a:xfrm>
            <a:off x="10424160" y="0"/>
            <a:ext cx="0" cy="6858000"/>
          </a:xfrm>
          <a:prstGeom prst="line">
            <a:avLst/>
          </a:prstGeom>
          <a:noFill/>
          <a:ln w="6350">
            <a:solidFill>
              <a:srgbClr val="1C3355">
                <a:alpha val="45000"/>
              </a:srgbClr>
            </a:solidFill>
            <a:prstDash val="solid"/>
          </a:ln>
        </p:spPr>
      </p:sp>
      <p:sp>
        <p:nvSpPr>
          <p:cNvPr id="21" name="Shape 19"/>
          <p:cNvSpPr/>
          <p:nvPr/>
        </p:nvSpPr>
        <p:spPr>
          <a:xfrm>
            <a:off x="11292840" y="0"/>
            <a:ext cx="0" cy="6858000"/>
          </a:xfrm>
          <a:prstGeom prst="line">
            <a:avLst/>
          </a:prstGeom>
          <a:noFill/>
          <a:ln w="6350">
            <a:solidFill>
              <a:srgbClr val="1C3355">
                <a:alpha val="45000"/>
              </a:srgbClr>
            </a:solidFill>
            <a:prstDash val="solid"/>
          </a:ln>
        </p:spPr>
      </p:sp>
      <p:sp>
        <p:nvSpPr>
          <p:cNvPr id="22" name="Shape 20"/>
          <p:cNvSpPr/>
          <p:nvPr/>
        </p:nvSpPr>
        <p:spPr>
          <a:xfrm>
            <a:off x="-1828800" y="3657600"/>
            <a:ext cx="5486400" cy="5486400"/>
          </a:xfrm>
          <a:prstGeom prst="ellipse">
            <a:avLst/>
          </a:prstGeom>
          <a:solidFill>
            <a:srgbClr val="7C3AED">
              <a:alpha val="10000"/>
            </a:srgbClr>
          </a:solidFill>
          <a:ln/>
        </p:spPr>
      </p:sp>
      <p:sp>
        <p:nvSpPr>
          <p:cNvPr id="23" name="Text 21"/>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100" b="1" spc="200" kern="0" dirty="0">
                <a:solidFill>
                  <a:srgbClr val="00A99D"/>
                </a:solidFill>
                <a:latin typeface="Courier New" pitchFamily="34" charset="0"/>
                <a:ea typeface="Courier New" pitchFamily="34" charset="-122"/>
                <a:cs typeface="Courier New" pitchFamily="34" charset="-120"/>
              </a:rPr>
              <a:t>TEAM, ROADMAP &amp; CONCLUSION</a:t>
            </a:r>
            <a:endParaRPr lang="en-US" sz="1100" dirty="0"/>
          </a:p>
        </p:txBody>
      </p:sp>
      <p:sp>
        <p:nvSpPr>
          <p:cNvPr id="24" name="Text 22"/>
          <p:cNvSpPr txBox="1"/>
          <p:nvPr/>
        </p:nvSpPr>
        <p:spPr>
          <a:xfrm>
            <a:off x="548640" y="749808"/>
            <a:ext cx="10515600" cy="548640"/>
          </a:xfrm>
          <a:prstGeom prst="rect">
            <a:avLst/>
          </a:prstGeom>
          <a:noFill/>
          <a:ln/>
        </p:spPr>
        <p:txBody>
          <a:bodyPr wrap="square" lIns="0" tIns="0" rIns="0" bIns="0" rtlCol="0" anchor="ctr"/>
          <a:lstStyle/>
          <a:p>
            <a:pPr indent="0" marL="0">
              <a:buNone/>
            </a:pPr>
            <a:r>
              <a:rPr lang="en-US" sz="2800" b="1" dirty="0">
                <a:solidFill>
                  <a:srgbClr val="FFFFFF"/>
                </a:solidFill>
                <a:latin typeface="Century Schoolbook" pitchFamily="34" charset="0"/>
                <a:ea typeface="Century Schoolbook" pitchFamily="34" charset="-122"/>
                <a:cs typeface="Century Schoolbook" pitchFamily="34" charset="-120"/>
              </a:rPr>
              <a:t>From Reactive to Proactive</a:t>
            </a:r>
            <a:endParaRPr lang="en-US" sz="2800" dirty="0"/>
          </a:p>
        </p:txBody>
      </p:sp>
      <p:sp>
        <p:nvSpPr>
          <p:cNvPr id="25" name="Text 23"/>
          <p:cNvSpPr txBox="1"/>
          <p:nvPr/>
        </p:nvSpPr>
        <p:spPr>
          <a:xfrm>
            <a:off x="548640" y="1463040"/>
            <a:ext cx="5120640" cy="274320"/>
          </a:xfrm>
          <a:prstGeom prst="rect">
            <a:avLst/>
          </a:prstGeom>
          <a:noFill/>
          <a:ln/>
        </p:spPr>
        <p:txBody>
          <a:bodyPr wrap="square" lIns="0" tIns="0" rIns="0" bIns="0" rtlCol="0" anchor="ctr"/>
          <a:lstStyle/>
          <a:p>
            <a:pPr indent="0" marL="0">
              <a:buNone/>
            </a:pPr>
            <a:r>
              <a:rPr lang="en-US" sz="1200" b="1" spc="100" kern="0" dirty="0">
                <a:solidFill>
                  <a:srgbClr val="00A99D"/>
                </a:solidFill>
                <a:latin typeface="Courier New" pitchFamily="34" charset="0"/>
                <a:ea typeface="Courier New" pitchFamily="34" charset="-122"/>
                <a:cs typeface="Courier New" pitchFamily="34" charset="-120"/>
              </a:rPr>
              <a:t>TEAM OUTLIERS</a:t>
            </a:r>
            <a:endParaRPr lang="en-US" sz="1200" dirty="0"/>
          </a:p>
        </p:txBody>
      </p:sp>
      <p:sp>
        <p:nvSpPr>
          <p:cNvPr id="26" name="Shape 24"/>
          <p:cNvSpPr/>
          <p:nvPr/>
        </p:nvSpPr>
        <p:spPr>
          <a:xfrm>
            <a:off x="548640" y="1874520"/>
            <a:ext cx="5120640" cy="731520"/>
          </a:xfrm>
          <a:prstGeom prst="roundRect">
            <a:avLst>
              <a:gd name="adj" fmla="val 7500"/>
            </a:avLst>
          </a:prstGeom>
          <a:solidFill>
            <a:srgbClr val="0F294A"/>
          </a:solidFill>
          <a:ln w="12700">
            <a:solidFill>
              <a:srgbClr val="23446E"/>
            </a:solidFill>
            <a:prstDash val="solid"/>
          </a:ln>
        </p:spPr>
      </p:sp>
      <p:sp>
        <p:nvSpPr>
          <p:cNvPr id="27" name="Shape 25"/>
          <p:cNvSpPr/>
          <p:nvPr/>
        </p:nvSpPr>
        <p:spPr>
          <a:xfrm>
            <a:off x="713232" y="2057400"/>
            <a:ext cx="365760" cy="365760"/>
          </a:xfrm>
          <a:prstGeom prst="ellipse">
            <a:avLst/>
          </a:prstGeom>
          <a:solidFill>
            <a:srgbClr val="0B1F3A"/>
          </a:solidFill>
          <a:ln w="15875">
            <a:solidFill>
              <a:srgbClr val="00A99D"/>
            </a:solidFill>
            <a:prstDash val="solid"/>
          </a:ln>
        </p:spPr>
      </p:sp>
      <p:sp>
        <p:nvSpPr>
          <p:cNvPr id="28" name="Text 26"/>
          <p:cNvSpPr txBox="1"/>
          <p:nvPr/>
        </p:nvSpPr>
        <p:spPr>
          <a:xfrm>
            <a:off x="713232" y="2057400"/>
            <a:ext cx="365760" cy="365760"/>
          </a:xfrm>
          <a:prstGeom prst="rect">
            <a:avLst/>
          </a:prstGeom>
          <a:noFill/>
          <a:ln/>
        </p:spPr>
        <p:txBody>
          <a:bodyPr wrap="square" lIns="0" tIns="0" rIns="0" bIns="0" rtlCol="0" anchor="ctr"/>
          <a:lstStyle/>
          <a:p>
            <a:pPr algn="ctr" indent="0" marL="0">
              <a:buNone/>
            </a:pPr>
            <a:r>
              <a:rPr lang="en-US" sz="1200" b="1" dirty="0">
                <a:solidFill>
                  <a:srgbClr val="00A99D"/>
                </a:solidFill>
                <a:latin typeface="Courier New" pitchFamily="34" charset="0"/>
                <a:ea typeface="Courier New" pitchFamily="34" charset="-122"/>
                <a:cs typeface="Courier New" pitchFamily="34" charset="-120"/>
              </a:rPr>
              <a:t>1</a:t>
            </a:r>
            <a:endParaRPr lang="en-US" sz="1200" dirty="0"/>
          </a:p>
        </p:txBody>
      </p:sp>
      <p:sp>
        <p:nvSpPr>
          <p:cNvPr id="29" name="Text 27"/>
          <p:cNvSpPr txBox="1"/>
          <p:nvPr/>
        </p:nvSpPr>
        <p:spPr>
          <a:xfrm>
            <a:off x="1207008" y="1947672"/>
            <a:ext cx="42976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Smit Bhalani</a:t>
            </a:r>
            <a:endParaRPr lang="en-US" sz="1250" dirty="0"/>
          </a:p>
        </p:txBody>
      </p:sp>
      <p:sp>
        <p:nvSpPr>
          <p:cNvPr id="30" name="Text 28"/>
          <p:cNvSpPr txBox="1"/>
          <p:nvPr/>
        </p:nvSpPr>
        <p:spPr>
          <a:xfrm>
            <a:off x="1207008" y="2240280"/>
            <a:ext cx="4297680" cy="32004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Full-Stack Architecture &amp; IBM Bob MCP Integration</a:t>
            </a:r>
            <a:endParaRPr lang="en-US" sz="1000" dirty="0"/>
          </a:p>
        </p:txBody>
      </p:sp>
      <p:sp>
        <p:nvSpPr>
          <p:cNvPr id="31" name="Shape 29"/>
          <p:cNvSpPr/>
          <p:nvPr/>
        </p:nvSpPr>
        <p:spPr>
          <a:xfrm>
            <a:off x="548640" y="2743200"/>
            <a:ext cx="5120640" cy="731520"/>
          </a:xfrm>
          <a:prstGeom prst="roundRect">
            <a:avLst>
              <a:gd name="adj" fmla="val 7500"/>
            </a:avLst>
          </a:prstGeom>
          <a:solidFill>
            <a:srgbClr val="0F294A"/>
          </a:solidFill>
          <a:ln w="12700">
            <a:solidFill>
              <a:srgbClr val="23446E"/>
            </a:solidFill>
            <a:prstDash val="solid"/>
          </a:ln>
        </p:spPr>
      </p:sp>
      <p:sp>
        <p:nvSpPr>
          <p:cNvPr id="32" name="Shape 30"/>
          <p:cNvSpPr/>
          <p:nvPr/>
        </p:nvSpPr>
        <p:spPr>
          <a:xfrm>
            <a:off x="713232" y="2926080"/>
            <a:ext cx="365760" cy="365760"/>
          </a:xfrm>
          <a:prstGeom prst="ellipse">
            <a:avLst/>
          </a:prstGeom>
          <a:solidFill>
            <a:srgbClr val="0B1F3A"/>
          </a:solidFill>
          <a:ln w="15875">
            <a:solidFill>
              <a:srgbClr val="00A99D"/>
            </a:solidFill>
            <a:prstDash val="solid"/>
          </a:ln>
        </p:spPr>
      </p:sp>
      <p:sp>
        <p:nvSpPr>
          <p:cNvPr id="33" name="Text 31"/>
          <p:cNvSpPr txBox="1"/>
          <p:nvPr/>
        </p:nvSpPr>
        <p:spPr>
          <a:xfrm>
            <a:off x="713232" y="2926080"/>
            <a:ext cx="365760" cy="365760"/>
          </a:xfrm>
          <a:prstGeom prst="rect">
            <a:avLst/>
          </a:prstGeom>
          <a:noFill/>
          <a:ln/>
        </p:spPr>
        <p:txBody>
          <a:bodyPr wrap="square" lIns="0" tIns="0" rIns="0" bIns="0" rtlCol="0" anchor="ctr"/>
          <a:lstStyle/>
          <a:p>
            <a:pPr algn="ctr" indent="0" marL="0">
              <a:buNone/>
            </a:pPr>
            <a:r>
              <a:rPr lang="en-US" sz="1200" b="1" dirty="0">
                <a:solidFill>
                  <a:srgbClr val="00A99D"/>
                </a:solidFill>
                <a:latin typeface="Courier New" pitchFamily="34" charset="0"/>
                <a:ea typeface="Courier New" pitchFamily="34" charset="-122"/>
                <a:cs typeface="Courier New" pitchFamily="34" charset="-120"/>
              </a:rPr>
              <a:t>2</a:t>
            </a:r>
            <a:endParaRPr lang="en-US" sz="1200" dirty="0"/>
          </a:p>
        </p:txBody>
      </p:sp>
      <p:sp>
        <p:nvSpPr>
          <p:cNvPr id="34" name="Text 32"/>
          <p:cNvSpPr txBox="1"/>
          <p:nvPr/>
        </p:nvSpPr>
        <p:spPr>
          <a:xfrm>
            <a:off x="1207008" y="2816352"/>
            <a:ext cx="42976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Aryan Patel</a:t>
            </a:r>
            <a:endParaRPr lang="en-US" sz="1250" dirty="0"/>
          </a:p>
        </p:txBody>
      </p:sp>
      <p:sp>
        <p:nvSpPr>
          <p:cNvPr id="35" name="Text 33"/>
          <p:cNvSpPr txBox="1"/>
          <p:nvPr/>
        </p:nvSpPr>
        <p:spPr>
          <a:xfrm>
            <a:off x="1207008" y="3108960"/>
            <a:ext cx="4297680" cy="32004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XGBoost ML Forecasting &amp; Curtailment Optimization</a:t>
            </a:r>
            <a:endParaRPr lang="en-US" sz="1000" dirty="0"/>
          </a:p>
        </p:txBody>
      </p:sp>
      <p:sp>
        <p:nvSpPr>
          <p:cNvPr id="36" name="Shape 34"/>
          <p:cNvSpPr/>
          <p:nvPr/>
        </p:nvSpPr>
        <p:spPr>
          <a:xfrm>
            <a:off x="548640" y="3611880"/>
            <a:ext cx="5120640" cy="731520"/>
          </a:xfrm>
          <a:prstGeom prst="roundRect">
            <a:avLst>
              <a:gd name="adj" fmla="val 7500"/>
            </a:avLst>
          </a:prstGeom>
          <a:solidFill>
            <a:srgbClr val="0F294A"/>
          </a:solidFill>
          <a:ln w="12700">
            <a:solidFill>
              <a:srgbClr val="23446E"/>
            </a:solidFill>
            <a:prstDash val="solid"/>
          </a:ln>
        </p:spPr>
      </p:sp>
      <p:sp>
        <p:nvSpPr>
          <p:cNvPr id="37" name="Shape 35"/>
          <p:cNvSpPr/>
          <p:nvPr/>
        </p:nvSpPr>
        <p:spPr>
          <a:xfrm>
            <a:off x="713232" y="3794760"/>
            <a:ext cx="365760" cy="365760"/>
          </a:xfrm>
          <a:prstGeom prst="ellipse">
            <a:avLst/>
          </a:prstGeom>
          <a:solidFill>
            <a:srgbClr val="0B1F3A"/>
          </a:solidFill>
          <a:ln w="15875">
            <a:solidFill>
              <a:srgbClr val="00A99D"/>
            </a:solidFill>
            <a:prstDash val="solid"/>
          </a:ln>
        </p:spPr>
      </p:sp>
      <p:sp>
        <p:nvSpPr>
          <p:cNvPr id="38" name="Text 36"/>
          <p:cNvSpPr txBox="1"/>
          <p:nvPr/>
        </p:nvSpPr>
        <p:spPr>
          <a:xfrm>
            <a:off x="713232" y="3794760"/>
            <a:ext cx="365760" cy="365760"/>
          </a:xfrm>
          <a:prstGeom prst="rect">
            <a:avLst/>
          </a:prstGeom>
          <a:noFill/>
          <a:ln/>
        </p:spPr>
        <p:txBody>
          <a:bodyPr wrap="square" lIns="0" tIns="0" rIns="0" bIns="0" rtlCol="0" anchor="ctr"/>
          <a:lstStyle/>
          <a:p>
            <a:pPr algn="ctr" indent="0" marL="0">
              <a:buNone/>
            </a:pPr>
            <a:r>
              <a:rPr lang="en-US" sz="1200" b="1" dirty="0">
                <a:solidFill>
                  <a:srgbClr val="00A99D"/>
                </a:solidFill>
                <a:latin typeface="Courier New" pitchFamily="34" charset="0"/>
                <a:ea typeface="Courier New" pitchFamily="34" charset="-122"/>
                <a:cs typeface="Courier New" pitchFamily="34" charset="-120"/>
              </a:rPr>
              <a:t>3</a:t>
            </a:r>
            <a:endParaRPr lang="en-US" sz="1200" dirty="0"/>
          </a:p>
        </p:txBody>
      </p:sp>
      <p:sp>
        <p:nvSpPr>
          <p:cNvPr id="39" name="Text 37"/>
          <p:cNvSpPr txBox="1"/>
          <p:nvPr/>
        </p:nvSpPr>
        <p:spPr>
          <a:xfrm>
            <a:off x="1207008" y="3685032"/>
            <a:ext cx="42976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Chaitya Vakani</a:t>
            </a:r>
            <a:endParaRPr lang="en-US" sz="1250" dirty="0"/>
          </a:p>
        </p:txBody>
      </p:sp>
      <p:sp>
        <p:nvSpPr>
          <p:cNvPr id="40" name="Text 38"/>
          <p:cNvSpPr txBox="1"/>
          <p:nvPr/>
        </p:nvSpPr>
        <p:spPr>
          <a:xfrm>
            <a:off x="1207008" y="3977640"/>
            <a:ext cx="4297680" cy="32004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Physics-Based Generation Modeling &amp; Anomaly Detection</a:t>
            </a:r>
            <a:endParaRPr lang="en-US" sz="1000" dirty="0"/>
          </a:p>
        </p:txBody>
      </p:sp>
      <p:sp>
        <p:nvSpPr>
          <p:cNvPr id="41" name="Shape 39"/>
          <p:cNvSpPr/>
          <p:nvPr/>
        </p:nvSpPr>
        <p:spPr>
          <a:xfrm>
            <a:off x="548640" y="4480560"/>
            <a:ext cx="5120640" cy="731520"/>
          </a:xfrm>
          <a:prstGeom prst="roundRect">
            <a:avLst>
              <a:gd name="adj" fmla="val 7500"/>
            </a:avLst>
          </a:prstGeom>
          <a:solidFill>
            <a:srgbClr val="0F294A"/>
          </a:solidFill>
          <a:ln w="12700">
            <a:solidFill>
              <a:srgbClr val="23446E"/>
            </a:solidFill>
            <a:prstDash val="solid"/>
          </a:ln>
        </p:spPr>
      </p:sp>
      <p:sp>
        <p:nvSpPr>
          <p:cNvPr id="42" name="Shape 40"/>
          <p:cNvSpPr/>
          <p:nvPr/>
        </p:nvSpPr>
        <p:spPr>
          <a:xfrm>
            <a:off x="713232" y="4663440"/>
            <a:ext cx="365760" cy="365760"/>
          </a:xfrm>
          <a:prstGeom prst="ellipse">
            <a:avLst/>
          </a:prstGeom>
          <a:solidFill>
            <a:srgbClr val="0B1F3A"/>
          </a:solidFill>
          <a:ln w="15875">
            <a:solidFill>
              <a:srgbClr val="00A99D"/>
            </a:solidFill>
            <a:prstDash val="solid"/>
          </a:ln>
        </p:spPr>
      </p:sp>
      <p:sp>
        <p:nvSpPr>
          <p:cNvPr id="43" name="Text 41"/>
          <p:cNvSpPr txBox="1"/>
          <p:nvPr/>
        </p:nvSpPr>
        <p:spPr>
          <a:xfrm>
            <a:off x="713232" y="4663440"/>
            <a:ext cx="365760" cy="365760"/>
          </a:xfrm>
          <a:prstGeom prst="rect">
            <a:avLst/>
          </a:prstGeom>
          <a:noFill/>
          <a:ln/>
        </p:spPr>
        <p:txBody>
          <a:bodyPr wrap="square" lIns="0" tIns="0" rIns="0" bIns="0" rtlCol="0" anchor="ctr"/>
          <a:lstStyle/>
          <a:p>
            <a:pPr algn="ctr" indent="0" marL="0">
              <a:buNone/>
            </a:pPr>
            <a:r>
              <a:rPr lang="en-US" sz="1200" b="1" dirty="0">
                <a:solidFill>
                  <a:srgbClr val="00A99D"/>
                </a:solidFill>
                <a:latin typeface="Courier New" pitchFamily="34" charset="0"/>
                <a:ea typeface="Courier New" pitchFamily="34" charset="-122"/>
                <a:cs typeface="Courier New" pitchFamily="34" charset="-120"/>
              </a:rPr>
              <a:t>4</a:t>
            </a:r>
            <a:endParaRPr lang="en-US" sz="1200" dirty="0"/>
          </a:p>
        </p:txBody>
      </p:sp>
      <p:sp>
        <p:nvSpPr>
          <p:cNvPr id="44" name="Text 42"/>
          <p:cNvSpPr txBox="1"/>
          <p:nvPr/>
        </p:nvSpPr>
        <p:spPr>
          <a:xfrm>
            <a:off x="1207008" y="4553712"/>
            <a:ext cx="42976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Vedant Bhatt</a:t>
            </a:r>
            <a:endParaRPr lang="en-US" sz="1250" dirty="0"/>
          </a:p>
        </p:txBody>
      </p:sp>
      <p:sp>
        <p:nvSpPr>
          <p:cNvPr id="45" name="Text 43"/>
          <p:cNvSpPr txBox="1"/>
          <p:nvPr/>
        </p:nvSpPr>
        <p:spPr>
          <a:xfrm>
            <a:off x="1207008" y="4846320"/>
            <a:ext cx="4297680" cy="32004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Root Cause Analysis &amp; Operator UI Design</a:t>
            </a:r>
            <a:endParaRPr lang="en-US" sz="1000" dirty="0"/>
          </a:p>
        </p:txBody>
      </p:sp>
      <p:sp>
        <p:nvSpPr>
          <p:cNvPr id="46" name="Text 44"/>
          <p:cNvSpPr txBox="1"/>
          <p:nvPr/>
        </p:nvSpPr>
        <p:spPr>
          <a:xfrm>
            <a:off x="6035040" y="1463040"/>
            <a:ext cx="5577840" cy="274320"/>
          </a:xfrm>
          <a:prstGeom prst="rect">
            <a:avLst/>
          </a:prstGeom>
          <a:noFill/>
          <a:ln/>
        </p:spPr>
        <p:txBody>
          <a:bodyPr wrap="square" lIns="0" tIns="0" rIns="0" bIns="0" rtlCol="0" anchor="ctr"/>
          <a:lstStyle/>
          <a:p>
            <a:pPr indent="0" marL="0">
              <a:buNone/>
            </a:pPr>
            <a:r>
              <a:rPr lang="en-US" sz="1200" b="1" spc="100" kern="0" dirty="0">
                <a:solidFill>
                  <a:srgbClr val="C98A00"/>
                </a:solidFill>
                <a:latin typeface="Courier New" pitchFamily="34" charset="0"/>
                <a:ea typeface="Courier New" pitchFamily="34" charset="-122"/>
                <a:cs typeface="Courier New" pitchFamily="34" charset="-120"/>
              </a:rPr>
              <a:t>ROADMAP</a:t>
            </a:r>
            <a:endParaRPr lang="en-US" sz="1200" dirty="0"/>
          </a:p>
        </p:txBody>
      </p:sp>
      <p:sp>
        <p:nvSpPr>
          <p:cNvPr id="47" name="Shape 45"/>
          <p:cNvSpPr/>
          <p:nvPr/>
        </p:nvSpPr>
        <p:spPr>
          <a:xfrm>
            <a:off x="6035040" y="1874520"/>
            <a:ext cx="5577840" cy="914400"/>
          </a:xfrm>
          <a:prstGeom prst="roundRect">
            <a:avLst>
              <a:gd name="adj" fmla="val 6000"/>
            </a:avLst>
          </a:prstGeom>
          <a:solidFill>
            <a:srgbClr val="0F294A"/>
          </a:solidFill>
          <a:ln w="13970">
            <a:solidFill>
              <a:srgbClr val="00A99D"/>
            </a:solidFill>
            <a:prstDash val="solid"/>
          </a:ln>
        </p:spPr>
      </p:sp>
      <p:sp>
        <p:nvSpPr>
          <p:cNvPr id="48" name="Text 46"/>
          <p:cNvSpPr txBox="1"/>
          <p:nvPr/>
        </p:nvSpPr>
        <p:spPr>
          <a:xfrm>
            <a:off x="6217920" y="2011680"/>
            <a:ext cx="640080" cy="640080"/>
          </a:xfrm>
          <a:prstGeom prst="rect">
            <a:avLst/>
          </a:prstGeom>
          <a:noFill/>
          <a:ln/>
        </p:spPr>
        <p:txBody>
          <a:bodyPr wrap="square" lIns="0" tIns="0" rIns="0" bIns="0" rtlCol="0" anchor="ctr"/>
          <a:lstStyle/>
          <a:p>
            <a:pPr indent="0" marL="0">
              <a:buNone/>
            </a:pPr>
            <a:r>
              <a:rPr lang="en-US" sz="2200" b="1" dirty="0">
                <a:solidFill>
                  <a:srgbClr val="00A99D"/>
                </a:solidFill>
                <a:latin typeface="Courier New" pitchFamily="34" charset="0"/>
                <a:ea typeface="Courier New" pitchFamily="34" charset="-122"/>
                <a:cs typeface="Courier New" pitchFamily="34" charset="-120"/>
              </a:rPr>
              <a:t>01</a:t>
            </a:r>
            <a:endParaRPr lang="en-US" sz="2200" dirty="0"/>
          </a:p>
        </p:txBody>
      </p:sp>
      <p:sp>
        <p:nvSpPr>
          <p:cNvPr id="49" name="Text 47"/>
          <p:cNvSpPr txBox="1"/>
          <p:nvPr/>
        </p:nvSpPr>
        <p:spPr>
          <a:xfrm>
            <a:off x="6903720" y="1984248"/>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Multi-Day Rolling Economic Dispatch</a:t>
            </a:r>
            <a:endParaRPr lang="en-US" sz="1300" dirty="0"/>
          </a:p>
        </p:txBody>
      </p:sp>
      <p:sp>
        <p:nvSpPr>
          <p:cNvPr id="50" name="Text 48"/>
          <p:cNvSpPr txBox="1"/>
          <p:nvPr/>
        </p:nvSpPr>
        <p:spPr>
          <a:xfrm>
            <a:off x="6903720" y="2313432"/>
            <a:ext cx="4526280" cy="41148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Extend the forecasting horizon and optimize dispatch cost across multiple days.</a:t>
            </a:r>
            <a:endParaRPr lang="en-US" sz="1000" dirty="0"/>
          </a:p>
        </p:txBody>
      </p:sp>
      <p:sp>
        <p:nvSpPr>
          <p:cNvPr id="51" name="Shape 49"/>
          <p:cNvSpPr/>
          <p:nvPr/>
        </p:nvSpPr>
        <p:spPr>
          <a:xfrm>
            <a:off x="6035040" y="2926080"/>
            <a:ext cx="5577840" cy="914400"/>
          </a:xfrm>
          <a:prstGeom prst="roundRect">
            <a:avLst>
              <a:gd name="adj" fmla="val 6000"/>
            </a:avLst>
          </a:prstGeom>
          <a:solidFill>
            <a:srgbClr val="0F294A"/>
          </a:solidFill>
          <a:ln w="13970">
            <a:solidFill>
              <a:srgbClr val="C98A00"/>
            </a:solidFill>
            <a:prstDash val="solid"/>
          </a:ln>
        </p:spPr>
      </p:sp>
      <p:sp>
        <p:nvSpPr>
          <p:cNvPr id="52" name="Text 50"/>
          <p:cNvSpPr txBox="1"/>
          <p:nvPr/>
        </p:nvSpPr>
        <p:spPr>
          <a:xfrm>
            <a:off x="6217920" y="3063240"/>
            <a:ext cx="640080" cy="640080"/>
          </a:xfrm>
          <a:prstGeom prst="rect">
            <a:avLst/>
          </a:prstGeom>
          <a:noFill/>
          <a:ln/>
        </p:spPr>
        <p:txBody>
          <a:bodyPr wrap="square" lIns="0" tIns="0" rIns="0" bIns="0" rtlCol="0" anchor="ctr"/>
          <a:lstStyle/>
          <a:p>
            <a:pPr indent="0" marL="0">
              <a:buNone/>
            </a:pPr>
            <a:r>
              <a:rPr lang="en-US" sz="2200" b="1" dirty="0">
                <a:solidFill>
                  <a:srgbClr val="C98A00"/>
                </a:solidFill>
                <a:latin typeface="Courier New" pitchFamily="34" charset="0"/>
                <a:ea typeface="Courier New" pitchFamily="34" charset="-122"/>
                <a:cs typeface="Courier New" pitchFamily="34" charset="-120"/>
              </a:rPr>
              <a:t>02</a:t>
            </a:r>
            <a:endParaRPr lang="en-US" sz="2200" dirty="0"/>
          </a:p>
        </p:txBody>
      </p:sp>
      <p:sp>
        <p:nvSpPr>
          <p:cNvPr id="53" name="Text 51"/>
          <p:cNvSpPr txBox="1"/>
          <p:nvPr/>
        </p:nvSpPr>
        <p:spPr>
          <a:xfrm>
            <a:off x="6903720" y="3035808"/>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Edge IoT Sensor Integration</a:t>
            </a:r>
            <a:endParaRPr lang="en-US" sz="1300" dirty="0"/>
          </a:p>
        </p:txBody>
      </p:sp>
      <p:sp>
        <p:nvSpPr>
          <p:cNvPr id="54" name="Text 52"/>
          <p:cNvSpPr txBox="1"/>
          <p:nvPr/>
        </p:nvSpPr>
        <p:spPr>
          <a:xfrm>
            <a:off x="6903720" y="3364992"/>
            <a:ext cx="4526280" cy="41148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Direct field-device telemetry for lower-latency anomaly detection.</a:t>
            </a:r>
            <a:endParaRPr lang="en-US" sz="1000" dirty="0"/>
          </a:p>
        </p:txBody>
      </p:sp>
      <p:sp>
        <p:nvSpPr>
          <p:cNvPr id="55" name="Shape 53"/>
          <p:cNvSpPr/>
          <p:nvPr/>
        </p:nvSpPr>
        <p:spPr>
          <a:xfrm>
            <a:off x="6035040" y="3977640"/>
            <a:ext cx="5577840" cy="914400"/>
          </a:xfrm>
          <a:prstGeom prst="roundRect">
            <a:avLst>
              <a:gd name="adj" fmla="val 6000"/>
            </a:avLst>
          </a:prstGeom>
          <a:solidFill>
            <a:srgbClr val="0F294A"/>
          </a:solidFill>
          <a:ln w="13970">
            <a:solidFill>
              <a:srgbClr val="108A56"/>
            </a:solidFill>
            <a:prstDash val="solid"/>
          </a:ln>
        </p:spPr>
      </p:sp>
      <p:sp>
        <p:nvSpPr>
          <p:cNvPr id="56" name="Text 54"/>
          <p:cNvSpPr txBox="1"/>
          <p:nvPr/>
        </p:nvSpPr>
        <p:spPr>
          <a:xfrm>
            <a:off x="6217920" y="4114800"/>
            <a:ext cx="640080" cy="640080"/>
          </a:xfrm>
          <a:prstGeom prst="rect">
            <a:avLst/>
          </a:prstGeom>
          <a:noFill/>
          <a:ln/>
        </p:spPr>
        <p:txBody>
          <a:bodyPr wrap="square" lIns="0" tIns="0" rIns="0" bIns="0" rtlCol="0" anchor="ctr"/>
          <a:lstStyle/>
          <a:p>
            <a:pPr indent="0" marL="0">
              <a:buNone/>
            </a:pPr>
            <a:r>
              <a:rPr lang="en-US" sz="2200" b="1" dirty="0">
                <a:solidFill>
                  <a:srgbClr val="108A56"/>
                </a:solidFill>
                <a:latin typeface="Courier New" pitchFamily="34" charset="0"/>
                <a:ea typeface="Courier New" pitchFamily="34" charset="-122"/>
                <a:cs typeface="Courier New" pitchFamily="34" charset="-120"/>
              </a:rPr>
              <a:t>03</a:t>
            </a:r>
            <a:endParaRPr lang="en-US" sz="2200" dirty="0"/>
          </a:p>
        </p:txBody>
      </p:sp>
      <p:sp>
        <p:nvSpPr>
          <p:cNvPr id="57" name="Text 55"/>
          <p:cNvSpPr txBox="1"/>
          <p:nvPr/>
        </p:nvSpPr>
        <p:spPr>
          <a:xfrm>
            <a:off x="6903720" y="4087368"/>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Real-Time Smart Grid Interconnects</a:t>
            </a:r>
            <a:endParaRPr lang="en-US" sz="1300" dirty="0"/>
          </a:p>
        </p:txBody>
      </p:sp>
      <p:sp>
        <p:nvSpPr>
          <p:cNvPr id="58" name="Text 56"/>
          <p:cNvSpPr txBox="1"/>
          <p:nvPr/>
        </p:nvSpPr>
        <p:spPr>
          <a:xfrm>
            <a:off x="6903720" y="4416552"/>
            <a:ext cx="4526280" cy="411480"/>
          </a:xfrm>
          <a:prstGeom prst="rect">
            <a:avLst/>
          </a:prstGeom>
          <a:noFill/>
          <a:ln/>
        </p:spPr>
        <p:txBody>
          <a:bodyPr wrap="square" lIns="0" tIns="0" rIns="0" bIns="0" rtlCol="0" anchor="ctr"/>
          <a:lstStyle/>
          <a:p>
            <a:pPr indent="0" marL="0">
              <a:buNone/>
            </a:pPr>
            <a:r>
              <a:rPr lang="en-US" sz="1000" dirty="0">
                <a:solidFill>
                  <a:srgbClr val="AEB8CC"/>
                </a:solidFill>
                <a:latin typeface="Calibri" pitchFamily="34" charset="0"/>
                <a:ea typeface="Calibri" pitchFamily="34" charset="-122"/>
                <a:cs typeface="Calibri" pitchFamily="34" charset="-120"/>
              </a:rPr>
              <a:t>Multi-substation coordination at metropolitan scale.</a:t>
            </a:r>
            <a:endParaRPr lang="en-US" sz="1000" dirty="0"/>
          </a:p>
        </p:txBody>
      </p:sp>
      <p:sp>
        <p:nvSpPr>
          <p:cNvPr id="59" name="Shape 57"/>
          <p:cNvSpPr/>
          <p:nvPr/>
        </p:nvSpPr>
        <p:spPr>
          <a:xfrm>
            <a:off x="548640" y="5623560"/>
            <a:ext cx="11064240" cy="777240"/>
          </a:xfrm>
          <a:prstGeom prst="roundRect">
            <a:avLst>
              <a:gd name="adj" fmla="val 9412"/>
            </a:avLst>
          </a:prstGeom>
          <a:solidFill>
            <a:srgbClr val="0F294A"/>
          </a:solidFill>
          <a:ln w="15875">
            <a:solidFill>
              <a:srgbClr val="C98A00"/>
            </a:solidFill>
            <a:prstDash val="solid"/>
          </a:ln>
        </p:spPr>
      </p:sp>
      <p:sp>
        <p:nvSpPr>
          <p:cNvPr id="60" name="Text 58"/>
          <p:cNvSpPr txBox="1"/>
          <p:nvPr/>
        </p:nvSpPr>
        <p:spPr>
          <a:xfrm>
            <a:off x="822960" y="5623560"/>
            <a:ext cx="10515600" cy="777240"/>
          </a:xfrm>
          <a:prstGeom prst="rect">
            <a:avLst/>
          </a:prstGeom>
          <a:noFill/>
          <a:ln/>
        </p:spPr>
        <p:txBody>
          <a:bodyPr wrap="square" lIns="0" tIns="0" rIns="0" bIns="0" rtlCol="0" anchor="ctr"/>
          <a:lstStyle/>
          <a:p>
            <a:pPr algn="ctr" indent="0" marL="0">
              <a:buNone/>
            </a:pPr>
            <a:r>
              <a:rPr lang="en-US" sz="1500" b="1" i="1" dirty="0">
                <a:solidFill>
                  <a:srgbClr val="C98A00"/>
                </a:solidFill>
                <a:latin typeface="Century Schoolbook" pitchFamily="34" charset="0"/>
                <a:ea typeface="Century Schoolbook" pitchFamily="34" charset="-122"/>
                <a:cs typeface="Century Schoolbook" pitchFamily="34" charset="-120"/>
              </a:rPr>
              <a:t>“GridWise AI turns grid operators from reactive troubleshooters into proactive clean energy conductors.”</a:t>
            </a:r>
            <a:endParaRPr lang="en-US" sz="1500" dirty="0"/>
          </a:p>
        </p:txBody>
      </p:sp>
      <p:sp>
        <p:nvSpPr>
          <p:cNvPr id="61" name="Text 59"/>
          <p:cNvSpPr txBox="1"/>
          <p:nvPr/>
        </p:nvSpPr>
        <p:spPr>
          <a:xfrm>
            <a:off x="457200" y="6519672"/>
            <a:ext cx="5486400" cy="274320"/>
          </a:xfrm>
          <a:prstGeom prst="rect">
            <a:avLst/>
          </a:prstGeom>
          <a:noFill/>
          <a:ln/>
        </p:spPr>
        <p:txBody>
          <a:bodyPr wrap="square" lIns="0" tIns="0" rIns="0" bIns="0" rtlCol="0" anchor="ctr"/>
          <a:lstStyle/>
          <a:p>
            <a:pPr indent="0" marL="0">
              <a:buNone/>
            </a:pPr>
            <a:r>
              <a:rPr lang="en-US" sz="900" spc="100" kern="0" dirty="0">
                <a:solidFill>
                  <a:srgbClr val="AEB8CC"/>
                </a:solidFill>
                <a:latin typeface="Calibri" pitchFamily="34" charset="0"/>
                <a:ea typeface="Calibri" pitchFamily="34" charset="-122"/>
                <a:cs typeface="Calibri" pitchFamily="34" charset="-120"/>
              </a:rPr>
              <a:t>GRIDWISE AI  ·  TEAM OUTLIERS</a:t>
            </a:r>
            <a:endParaRPr lang="en-US" sz="900" dirty="0"/>
          </a:p>
        </p:txBody>
      </p:sp>
      <p:sp>
        <p:nvSpPr>
          <p:cNvPr id="62" name="Text 60"/>
          <p:cNvSpPr txBox="1"/>
          <p:nvPr/>
        </p:nvSpPr>
        <p:spPr>
          <a:xfrm>
            <a:off x="10789920" y="6519672"/>
            <a:ext cx="914400" cy="274320"/>
          </a:xfrm>
          <a:prstGeom prst="rect">
            <a:avLst/>
          </a:prstGeom>
          <a:noFill/>
          <a:ln/>
        </p:spPr>
        <p:txBody>
          <a:bodyPr wrap="square" lIns="0" tIns="0" rIns="0" bIns="0" rtlCol="0" anchor="ctr"/>
          <a:lstStyle/>
          <a:p>
            <a:pPr algn="r" indent="0" marL="0">
              <a:buNone/>
            </a:pPr>
            <a:r>
              <a:rPr lang="en-US" sz="900" dirty="0">
                <a:solidFill>
                  <a:srgbClr val="AEB8CC"/>
                </a:solidFill>
                <a:latin typeface="Courier New" pitchFamily="34" charset="0"/>
                <a:ea typeface="Courier New" pitchFamily="34" charset="-122"/>
                <a:cs typeface="Courier New" pitchFamily="34" charset="-120"/>
              </a:rPr>
              <a:t>08 / 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2026-09-15T10:54:36Z</dcterms:created>
  <dcterms:modified xsi:type="dcterms:W3CDTF">2026-09-15T10:54:36Z</dcterms:modified>
</cp:coreProperties>
</file>