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442c278a754020" /><Relationship Type="http://schemas.openxmlformats.org/package/2006/relationships/metadata/core-properties" Target="/docProps/core.xml" Id="Rf4c5588ba37648ac" /><Relationship Type="http://schemas.openxmlformats.org/officeDocument/2006/relationships/extended-properties" Target="/docProps/app.xml" Id="R85cda8c0d7c642ff" /><Relationship Type="http://schemas.openxmlformats.org/officeDocument/2006/relationships/custom-properties" Target="/docProps/custom.xml" Id="Ra6b3869a332f4ec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3ebb85ea9314d88"/>
  </p:notesMasterIdLst>
  <p:sldIdLst>
    <p:sldId id="256" r:id="R9cf5973036164e0a"/>
    <p:sldId id="257" r:id="Rb272e3113f6942bb"/>
    <p:sldId id="258" r:id="R73e925ef59ab4010"/>
    <p:sldId id="259" r:id="R846e8afae98e4c4d"/>
    <p:sldId id="260" r:id="R8e64b90825b24ea2"/>
    <p:sldId id="261" r:id="R68ea3e038adf4536"/>
    <p:sldId id="262" r:id="Rd0a39c6fa9b645e4"/>
    <p:sldId id="263" r:id="Rb1b88e0e384543f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cf5973036164e0a" /><Relationship Type="http://schemas.openxmlformats.org/officeDocument/2006/relationships/notesMaster" Target="/ppt/notesMasters/notesMaster1.xml" Id="Rd3ebb85ea9314d88" /><Relationship Type="http://schemas.openxmlformats.org/officeDocument/2006/relationships/slide" Target="/ppt/slides/slide2.xml" Id="Rb272e3113f6942bb" /><Relationship Type="http://schemas.openxmlformats.org/officeDocument/2006/relationships/slide" Target="/ppt/slides/slide3.xml" Id="R73e925ef59ab4010" /><Relationship Type="http://schemas.openxmlformats.org/officeDocument/2006/relationships/slide" Target="/ppt/slides/slide4.xml" Id="R846e8afae98e4c4d" /><Relationship Type="http://schemas.openxmlformats.org/officeDocument/2006/relationships/slide" Target="/ppt/slides/slide5.xml" Id="R8e64b90825b24ea2" /><Relationship Type="http://schemas.openxmlformats.org/officeDocument/2006/relationships/slide" Target="/ppt/slides/slide6.xml" Id="R68ea3e038adf4536" /><Relationship Type="http://schemas.openxmlformats.org/officeDocument/2006/relationships/slide" Target="/ppt/slides/slide7.xml" Id="Rd0a39c6fa9b645e4" /><Relationship Type="http://schemas.openxmlformats.org/officeDocument/2006/relationships/slide" Target="/ppt/slides/slide8.xml" Id="Rb1b88e0e3845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021f52ea0747b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2440fe320a40d0" /><Relationship Type="http://schemas.openxmlformats.org/officeDocument/2006/relationships/slide" Target="/ppt/slides/slide1.xml" Id="Rad5669615ac248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fcd9b7da2454a6b" /><Relationship Type="http://schemas.openxmlformats.org/officeDocument/2006/relationships/slide" Target="/ppt/slides/slide2.xml" Id="Ra48e5ace37ca4a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f3da67e5564967" /><Relationship Type="http://schemas.openxmlformats.org/officeDocument/2006/relationships/slide" Target="/ppt/slides/slide3.xml" Id="R5d9b74c37f34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add929336d4691" /><Relationship Type="http://schemas.openxmlformats.org/officeDocument/2006/relationships/slide" Target="/ppt/slides/slide4.xml" Id="R52c6fea16abc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63507271ade425c" /><Relationship Type="http://schemas.openxmlformats.org/officeDocument/2006/relationships/slide" Target="/ppt/slides/slide5.xml" Id="R53c7466f76134a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179a105b0784075" /><Relationship Type="http://schemas.openxmlformats.org/officeDocument/2006/relationships/slide" Target="/ppt/slides/slide6.xml" Id="R2d45d47c44664e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db9283085f94ae5" /><Relationship Type="http://schemas.openxmlformats.org/officeDocument/2006/relationships/slide" Target="/ppt/slides/slide7.xml" Id="R1402eabaec8747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7513dfe2de4499" /><Relationship Type="http://schemas.openxmlformats.org/officeDocument/2006/relationships/slide" Target="/ppt/slides/slide8.xml" Id="Ra77c6464195b43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GridWise AI is a full-stack grid intelligence platform integrating XGBoost load forecasting, physics-based renewable models, anomaly detection, root cause analysis, grid optimisation, and IBM Bob conversational interface.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problem is multi-dimensional: demand forecasting, renewable monitoring, fault diagnosis, optimisation, and curtailment minimisation. Each exists in isolation today.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Full-stack chain from raw data to IBM Bob conversational interface. All steps are deterministic and explainable.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Bob calls 9 MCP tools that each hit a specific FastAPI endpoint. Every number Bob cites has a traceable origin in the computation chain.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combined hackathon demo scenario. Run GET /demo to reproduce all results deterministically.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RCA correctly distinguishes weather-caused losses from genuine equipment faults. This is the key differentiator from simpler threshold alarms.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62 tests pass. The XGBoost model achieves R2=0.90 on held-out synthetic test data with a strictly chronological split.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you. Questions welcome. Run GET /demo for the full combined scenario pipeline result.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315c3bf5348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a7928bfe749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3f185fddc4b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ba5cf1cd34a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c8c3614134c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4cab69aad074e9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3f2b3dc0c4b36" /><Relationship Type="http://schemas.openxmlformats.org/officeDocument/2006/relationships/notesSlide" Target="/ppt/notesSlides/notesSlide1.xml" Id="Rac863940a2aa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2a2a624d44866" /><Relationship Type="http://schemas.openxmlformats.org/officeDocument/2006/relationships/notesSlide" Target="/ppt/notesSlides/notesSlide2.xml" Id="Rcf6f43d0c3f1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76a5f3964fec" /><Relationship Type="http://schemas.openxmlformats.org/officeDocument/2006/relationships/notesSlide" Target="/ppt/notesSlides/notesSlide3.xml" Id="Rfe73abfb8543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5a5e25a445f7" /><Relationship Type="http://schemas.openxmlformats.org/officeDocument/2006/relationships/notesSlide" Target="/ppt/notesSlides/notesSlide4.xml" Id="Rf9ab83976bd343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ae3d826cc4588" /><Relationship Type="http://schemas.openxmlformats.org/officeDocument/2006/relationships/notesSlide" Target="/ppt/notesSlides/notesSlide5.xml" Id="R3a0ca9f625a5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7b9ff2df40b9" /><Relationship Type="http://schemas.openxmlformats.org/officeDocument/2006/relationships/notesSlide" Target="/ppt/notesSlides/notesSlide6.xml" Id="R1cde49a06d444c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14f23e8904afc" /><Relationship Type="http://schemas.openxmlformats.org/officeDocument/2006/relationships/notesSlide" Target="/ppt/notesSlides/notesSlide7.xml" Id="R257f3e474d694b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4c24d8e34a97" /><Relationship Type="http://schemas.openxmlformats.org/officeDocument/2006/relationships/notesSlide" Target="/ppt/notesSlides/notesSlide8.xml" Id="Rfd846d77377449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720000" y="144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388BFD"/>
                </a:solidFill>
                <a:latin typeface="Segoe UI"/>
                <a:ea typeface="Segoe UI"/>
              </a:rPr>
              <a:t>GridWise AI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720000" y="324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E6EDF3"/>
                </a:solidFill>
                <a:latin typeface="Segoe UI"/>
                <a:ea typeface="Segoe UI"/>
              </a:rPr>
              <a:t>Grid Load Optimisation &amp; Renewable Energy Performance Advisor</a:t>
            </a:r>
          </a:p>
        </p:txBody>
      </p:sp>
      <p:sp>
        <p:nvSpPr>
          <p:cNvPr id="100002" name="Track"/>
          <p:cNvSpPr txBox="1"/>
          <p:nvPr/>
        </p:nvSpPr>
        <p:spPr>
          <a:xfrm xmlns:a="http://schemas.openxmlformats.org/drawingml/2006/main">
            <a:off x="720000" y="50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  <a:latin typeface="Segoe UI"/>
                <a:ea typeface="Segoe UI"/>
              </a:rPr>
              <a:t>IBM Bob AI Hackathon  |  Track: AI  |  Team: Outliers</a:t>
            </a:r>
          </a:p>
        </p:txBody>
      </p:sp>
      <p:sp>
        <p:nvSpPr>
          <p:cNvPr id="100003" name="Warning"/>
          <p:cNvSpPr txBox="1"/>
          <p:nvPr/>
        </p:nvSpPr>
        <p:spPr>
          <a:xfrm xmlns:a="http://schemas.openxmlformats.org/drawingml/2006/main">
            <a:off x="720000" y="612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29922"/>
                </a:solidFill>
                <a:latin typeface="Segoe UI"/>
                <a:ea typeface="Segoe UI"/>
              </a:rPr>
              <a:t>WARNING: All data is SYNTHETIC / DEMO — not real telemetry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/>
      <p:sp>
        <p:nvSpPr>
          <p:cNvPr id="100004" name="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8BFD"/>
                </a:solidFill>
                <a:latin typeface="Segoe UI"/>
                <a:ea typeface="Segoe UI"/>
              </a:rPr>
              <a:t>The Problem</a:t>
            </a:r>
          </a:p>
        </p:txBody>
      </p:sp>
      <p:sp>
        <p:nvSpPr>
          <p:cNvPr id="100005" name="Body"/>
          <p:cNvSpPr txBox="1"/>
          <p:nvPr/>
        </p:nvSpPr>
        <p:spPr>
          <a:xfrm xmlns:a="http://schemas.openxmlformats.org/drawingml/2006/main">
            <a:off x="720000" y="1260000"/>
            <a:ext cx="104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Grid operators face 5 simultaneous challenges: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1. DEMAND SPIKES — When will load exceed capacity?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2. RENEWABLE MONITORING — Which assets are underperforming?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3. ROOT CAUSE AMBIGUITY — Weather fault? Equipment fault? Data error?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4. SUPPLY-DEMAND OPTIMISATION — BESS? DR? Backup generation?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5. CURTAILMENT — How much renewable energy is being wasted?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No existing tool integrates all five with a conversational AI interface.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  <a:latin typeface="Segoe UI"/>
                <a:ea typeface="Segoe UI"/>
              </a:rPr>
              <a:t>Operators switch between disconnected systems while the grid changes.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/>
      <p:sp>
        <p:nvSpPr>
          <p:cNvPr id="100006" name="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8BFD"/>
                </a:solidFill>
                <a:latin typeface="Segoe UI"/>
                <a:ea typeface="Segoe UI"/>
              </a:rPr>
              <a:t>Our Solution — GridWise AI</a:t>
            </a:r>
          </a:p>
        </p:txBody>
      </p:sp>
      <p:sp>
        <p:nvSpPr>
          <p:cNvPr id="100007" name="Chain"/>
          <p:cNvSpPr txBox="1"/>
          <p:nvPr/>
        </p:nvSpPr>
        <p:spPr>
          <a:xfrm xmlns:a="http://schemas.openxmlformats.org/drawingml/2006/main">
            <a:off x="720000" y="1260000"/>
            <a:ext cx="1044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XGBoost Load Forecast  --&gt;  Physics Renewable Models  --&gt;  Anomaly Detection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      |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      v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Root Cause Analysis  --&gt;  Grid Optimisation Engine  --&gt;  Curtailment Minimiser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      |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      v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Operator Brief Generator  --&gt;  FastAPI Backend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      |                              |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      v                              v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   IBM Bob (MCP Server)         Operator Dashboard</a:t>
            </a:r>
          </a:p>
        </p:txBody>
      </p:sp>
      <p:sp>
        <p:nvSpPr>
          <p:cNvPr id="100008" name="Stack"/>
          <p:cNvSpPr txBox="1"/>
          <p:nvPr/>
        </p:nvSpPr>
        <p:spPr>
          <a:xfrm xmlns:a="http://schemas.openxmlformats.org/drawingml/2006/main">
            <a:off x="720000" y="540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B949E"/>
                </a:solidFill>
                <a:latin typeface="Segoe UI"/>
                <a:ea typeface="Segoe UI"/>
              </a:rPr>
              <a:t>Stack: Python / FastAPI / XGBoost / pandas / Node.js / IBM Bob MCP / HTML+JS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/>
      <p:sp>
        <p:nvSpPr>
          <p:cNvPr id="100009" name="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8BFD"/>
                </a:solidFill>
                <a:latin typeface="Segoe UI"/>
                <a:ea typeface="Segoe UI"/>
              </a:rPr>
              <a:t>IBM Bob Integration — 9 MCP Tools</a:t>
            </a:r>
          </a:p>
        </p:txBody>
      </p:sp>
      <p:sp>
        <p:nvSpPr>
          <p:cNvPr id="100010" name="Tools"/>
          <p:cNvSpPr txBox="1"/>
          <p:nvPr/>
        </p:nvSpPr>
        <p:spPr>
          <a:xfrm xmlns:a="http://schemas.openxmlformats.org/drawingml/2006/main">
            <a:off x="720000" y="1260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get_grid_status        -&gt; Load, capacity, reserve margin, risk level  [RULE-BASED]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get_load_forecast      -&gt; 24h XGBoost demand forecast               [ML MODEL]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get_spike_risks        -&gt; Per-hour LOW/MEDIUM/HIGH/CRITICAL risk     [RULE-BASED]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get_renewable_forecast -&gt; Expected solar + wind generation           [PHYSICS MODEL]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get_asset_anomalies    -&gt; Underperforming assets, performance ratios [RULE-BASED]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diagnose_asset         -&gt; RCA: weather vs unexplained loss           [HEURISTIC RCA]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get_optimisation_plan  -&gt; BESS / DR / backup dispatch plan           [DETERMINISTIC]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get_curtailment_plan   -&gt; Curtailment minimisation breakdown         [ARITHMETIC]</a:t>
            </a:r>
          </a:p>
          <a:p xmlns:a="http://schemas.openxmlformats.org/drawingml/2006/main">
            <a:r>
              <a:rPr lang="en-US" sz="1600">
                <a:solidFill>
                  <a:srgbClr val="E6EDF3"/>
                </a:solidFill>
                <a:latin typeface="Consolas"/>
                <a:ea typeface="Consolas"/>
              </a:rPr>
              <a:t>generate_operator_brief-&gt; Full 14-section operator brief             [AGGREGATED]</a:t>
            </a:r>
          </a:p>
        </p:txBody>
      </p:sp>
      <p:sp>
        <p:nvSpPr>
          <p:cNvPr id="100011" name="Principle"/>
          <p:cNvSpPr txBox="1"/>
          <p:nvPr/>
        </p:nvSpPr>
        <p:spPr>
          <a:xfrm xmlns:a="http://schemas.openxmlformats.org/drawingml/2006/main">
            <a:off x="720000" y="594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FB950"/>
                </a:solidFill>
                <a:latin typeface="Segoe UI"/>
                <a:ea typeface="Segoe UI"/>
              </a:rPr>
              <a:t>KEY PRINCIPLE: Bob reads computed backend results. It never fabricates measurements.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/>
      <p:sp>
        <p:nvSpPr>
          <p:cNvPr id="100012" name="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8BFD"/>
                </a:solidFill>
                <a:latin typeface="Segoe UI"/>
                <a:ea typeface="Segoe UI"/>
              </a:rPr>
              <a:t>Demo Scenario D — Spike + Inverter Fault</a:t>
            </a:r>
          </a:p>
        </p:txBody>
      </p:sp>
      <p:sp>
        <p:nvSpPr>
          <p:cNvPr id="100013" name="Scenario"/>
          <p:cNvSpPr txBox="1"/>
          <p:nvPr/>
        </p:nvSpPr>
        <p:spPr>
          <a:xfrm xmlns:a="http://schemas.openxmlformats.org/drawingml/2006/main">
            <a:off x="720000" y="1260000"/>
            <a:ext cx="104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Scenario: August 14, 2023 — Hot summer day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SPIKE: Evening demand rising to 2,115 MW (reserve margin ~12%)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FAULT:  SOL-02 (Sunfield Beta) at 18% capacity factor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     -- Clear sky, 950 W/m2 irradiance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     -- No weather excuse: unexplained loss = 49.8 MW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     -- Diagnosis: inverter / string issue [52% confidence]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     -- Inspection RECOMMENDED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OPTIMISATION: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BESS discharges 178 MWh to cover evening deficit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Demand response activated for 7 intervals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Backup generation required for 4 peak intervals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CURTAILMENT: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9.2 MWh potential midday surplus fully absorbed by BESS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/>
      <p:sp>
        <p:nvSpPr>
          <p:cNvPr id="100014" name="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8BFD"/>
                </a:solidFill>
                <a:latin typeface="Segoe UI"/>
                <a:ea typeface="Segoe UI"/>
              </a:rPr>
              <a:t>Evidence-Based RCA — Our Strongest Feature</a:t>
            </a:r>
          </a:p>
        </p:txBody>
      </p:sp>
      <p:sp>
        <p:nvSpPr>
          <p:cNvPr id="100015" name="Body"/>
          <p:cNvSpPr txBox="1"/>
          <p:nvPr/>
        </p:nvSpPr>
        <p:spPr>
          <a:xfrm xmlns:a="http://schemas.openxmlformats.org/drawingml/2006/main">
            <a:off x="720000" y="126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The RCA engine (root_cause_analysis.py) is the core innovation: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1. Total loss = expected - actual generation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2. Weather-explained loss calculated from: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- Cloud cover transmissivity model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- Irradiance reduction factor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- Temperature derating coefficient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 - Wind speed vs power curve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3. Unexplained loss = total - weather explained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4. Confidence-scored cause candidates returned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5. Inspection triggered only when unexplained &gt; threshold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Example (SOL-02, clear sky day):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Expected: 63.0 MW  |  Actual: 11.5 MW  |  Total loss: 51.5 MW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Weather explained: 1.7 MW (high temperature only)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Unexplained: 49.8 MW  --&gt;  INSPECTION REQUIRED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Top cause: inverter_or_string_issue [52% confidence]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This is NOT a black box. Every step is traceable arithmetic.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/>
      <p:sp>
        <p:nvSpPr>
          <p:cNvPr id="100016" name="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8BFD"/>
                </a:solidFill>
                <a:latin typeface="Segoe UI"/>
                <a:ea typeface="Segoe UI"/>
              </a:rPr>
              <a:t>Test Results &amp; Validation</a:t>
            </a:r>
          </a:p>
        </p:txBody>
      </p:sp>
      <p:sp>
        <p:nvSpPr>
          <p:cNvPr id="100017" name="Tests"/>
          <p:cNvSpPr txBox="1"/>
          <p:nvPr/>
        </p:nvSpPr>
        <p:spPr>
          <a:xfrm xmlns:a="http://schemas.openxmlformats.org/drawingml/2006/main">
            <a:off x="720000" y="1260000"/>
            <a:ext cx="104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62 pytest tests  |  0 failed  |  0 warnings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Phase 1 Tests (38):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Load forecasting: features, leakage prevention, chronological split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Anomaly detection: normal/warning/critical, nighttime suppression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Root cause analysis: weather vs unexplained, weather-explained = no fault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Spike detection: risk classification, reserve margin formula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Renewable models: solar physics, wind power curve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Phase 2 Tests (24):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Grid optimisation: deficit, surplus, empty BESS, full BESS, power limits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Energy conservation: supply &gt;= demand after dispatch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Curtailment accounting: avoided + unavoidable = potential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Scenarios A/B/C: normal, spike, surplus+fault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Multiple anomalous assets, weather vs unexplained RCA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Model Metrics (XGBoost, synthetic data):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Train R2=0.996  MAE=19 MW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Val   R2=0.986  MAE=24 MW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  <a:latin typeface="Segoe UI"/>
                <a:ea typeface="Segoe UI"/>
              </a:rPr>
              <a:t>  Test  R2=0.900  MAE=49 MW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18" name="Title"/>
          <p:cNvSpPr txBox="1"/>
          <p:nvPr/>
        </p:nvSpPr>
        <p:spPr>
          <a:xfrm xmlns:a="http://schemas.openxmlformats.org/drawingml/2006/main">
            <a:off x="720000" y="144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388BFD"/>
                </a:solidFill>
                <a:latin typeface="Segoe UI"/>
                <a:ea typeface="Segoe UI"/>
              </a:rPr>
              <a:t>Thank You</a:t>
            </a:r>
          </a:p>
        </p:txBody>
      </p:sp>
      <p:sp>
        <p:nvSpPr>
          <p:cNvPr id="100019" name="Team"/>
          <p:cNvSpPr txBox="1"/>
          <p:nvPr/>
        </p:nvSpPr>
        <p:spPr>
          <a:xfrm xmlns:a="http://schemas.openxmlformats.org/drawingml/2006/main">
            <a:off x="720000" y="288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E6EDF3"/>
                </a:solidFill>
                <a:latin typeface="Segoe UI"/>
                <a:ea typeface="Segoe UI"/>
              </a:rPr>
              <a:t>Team Outliers  |  IBM Bob AI Hackathon  |  Track: AI</a:t>
            </a:r>
          </a:p>
        </p:txBody>
      </p:sp>
      <p:sp>
        <p:nvSpPr>
          <p:cNvPr id="100020" name="Run"/>
          <p:cNvSpPr txBox="1"/>
          <p:nvPr/>
        </p:nvSpPr>
        <p:spPr>
          <a:xfrm xmlns:a="http://schemas.openxmlformats.org/drawingml/2006/main">
            <a:off x="720000" y="396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8B949E"/>
                </a:solidFill>
                <a:latin typeface="Consolas"/>
                <a:ea typeface="Consolas"/>
              </a:rPr>
              <a:t>Run the demo:</a:t>
            </a:r>
          </a:p>
          <a:p xmlns:a="http://schemas.openxmlformats.org/drawingml/2006/main">
            <a:r>
              <a:rPr lang="en-US" sz="1800">
                <a:solidFill>
                  <a:srgbClr val="8B949E"/>
                </a:solidFill>
                <a:latin typeface="Consolas"/>
                <a:ea typeface="Consolas"/>
              </a:rPr>
              <a:t>uvicorn src.backend.main:app --port 8000 --reload</a:t>
            </a:r>
          </a:p>
          <a:p xmlns:a="http://schemas.openxmlformats.org/drawingml/2006/main">
            <a:r>
              <a:rPr lang="en-US" sz="1800">
                <a:solidFill>
                  <a:srgbClr val="8B949E"/>
                </a:solidFill>
                <a:latin typeface="Consolas"/>
                <a:ea typeface="Consolas"/>
              </a:rPr>
              <a:t>http://localhost:8000/dashboard</a:t>
            </a:r>
          </a:p>
        </p:txBody>
      </p:sp>
      <p:sp>
        <p:nvSpPr>
          <p:cNvPr id="100021" name="Links"/>
          <p:cNvSpPr txBox="1"/>
          <p:nvPr/>
        </p:nvSpPr>
        <p:spPr>
          <a:xfrm xmlns:a="http://schemas.openxmlformats.org/drawingml/2006/main">
            <a:off x="720000" y="540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B949E"/>
                </a:solidFill>
                <a:latin typeface="Segoe UI"/>
                <a:ea typeface="Segoe UI"/>
              </a:rPr>
              <a:t>GitHub: bob-ai-hackathon-outliers  |  API Docs: /docs  |  Demo: /demo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2026-09-14T18:32:32Z</dcterms:created>
  <cp:lastModifiedBy>OfficeCLI</cp:lastModifiedBy>
  <dcterms:modified xsi:type="dcterms:W3CDTF">2026-09-14T18:32:32Z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2026-09-14T18:32:35Z</vt:lpwstr>
  </op:property>
</op:Properties>
</file>